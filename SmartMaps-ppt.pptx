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E30C721-DA08-4A76-A55D-044B3131F88B}">
  <a:tblStyle styleId="{EE30C721-DA08-4A76-A55D-044B3131F88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995f8e14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f995f8e149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995f8e149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f995f8e149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 name="Shape 11"/>
        <p:cNvGrpSpPr/>
        <p:nvPr/>
      </p:nvGrpSpPr>
      <p:grpSpPr>
        <a:xfrm>
          <a:off x="0" y="0"/>
          <a:ext cx="0" cy="0"/>
          <a:chOff x="0" y="0"/>
          <a:chExt cx="0" cy="0"/>
        </a:xfrm>
      </p:grpSpPr>
      <p:sp>
        <p:nvSpPr>
          <p:cNvPr id="12" name="Google Shape;12;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 name="Google Shape;15;p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5"/>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 name="Google Shape;31;p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6"/>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3887391" y="987426"/>
            <a:ext cx="4629150" cy="4873625"/>
          </a:xfrm>
          <a:prstGeom prst="rect">
            <a:avLst/>
          </a:prstGeom>
          <a:noFill/>
          <a:ln>
            <a:noFill/>
          </a:ln>
        </p:spPr>
      </p:sp>
      <p:sp>
        <p:nvSpPr>
          <p:cNvPr id="64" name="Google Shape;64;p10"/>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hyperlink" Target="https://ieeexplore.ieee.org/document/10740283?utm_source=chatgpt.com" TargetMode="External"/><Relationship Id="rId5" Type="http://schemas.openxmlformats.org/officeDocument/2006/relationships/hyperlink" Target="https://www.researchgate.net/publication/374109131_SafeTrack_Empowering_Women%27s_Security_with_GPS_Location_Tracking_and_Messaging?utm_source=chatgpt.com" TargetMode="External"/><Relationship Id="rId6" Type="http://schemas.openxmlformats.org/officeDocument/2006/relationships/hyperlink" Target="https://shibaura.elsevierpure.com/en/publications/recommendation-of-sustainable-route-optimization-for-travel-and-t/?utm_source=chatgpt.com" TargetMode="External"/><Relationship Id="rId7" Type="http://schemas.openxmlformats.org/officeDocument/2006/relationships/hyperlink" Target="https://www.igi-global.com/chapter/integrated-womens-security-system-with-safe-route-navigation-and-instant-law-enforcement-reporting/354370?utm_source=chatgpt.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idx="2" type="body"/>
          </p:nvPr>
        </p:nvSpPr>
        <p:spPr>
          <a:xfrm>
            <a:off x="4621600" y="2725050"/>
            <a:ext cx="4213800" cy="3313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IN"/>
              <a:t> </a:t>
            </a:r>
            <a:endParaRPr/>
          </a:p>
          <a:p>
            <a:pPr indent="0" lvl="0" marL="0" rtl="0" algn="l">
              <a:lnSpc>
                <a:spcPct val="90000"/>
              </a:lnSpc>
              <a:spcBef>
                <a:spcPts val="1000"/>
              </a:spcBef>
              <a:spcAft>
                <a:spcPts val="0"/>
              </a:spcAft>
              <a:buClr>
                <a:schemeClr val="dk1"/>
              </a:buClr>
              <a:buSzPts val="2000"/>
              <a:buNone/>
            </a:pPr>
            <a:r>
              <a:rPr b="1" lang="en-IN" sz="2000">
                <a:latin typeface="Times New Roman"/>
                <a:ea typeface="Times New Roman"/>
                <a:cs typeface="Times New Roman"/>
                <a:sym typeface="Times New Roman"/>
              </a:rPr>
              <a:t>Presented</a:t>
            </a:r>
            <a:r>
              <a:rPr lang="en-IN" sz="2000">
                <a:latin typeface="Times New Roman"/>
                <a:ea typeface="Times New Roman"/>
                <a:cs typeface="Times New Roman"/>
                <a:sym typeface="Times New Roman"/>
              </a:rPr>
              <a:t> </a:t>
            </a:r>
            <a:r>
              <a:rPr b="1" lang="en-IN" sz="2000">
                <a:latin typeface="Times New Roman"/>
                <a:ea typeface="Times New Roman"/>
                <a:cs typeface="Times New Roman"/>
                <a:sym typeface="Times New Roman"/>
              </a:rPr>
              <a:t>By</a:t>
            </a:r>
            <a:r>
              <a:rPr lang="en-IN" sz="2000">
                <a:latin typeface="Times New Roman"/>
                <a:ea typeface="Times New Roman"/>
                <a:cs typeface="Times New Roman"/>
                <a:sym typeface="Times New Roman"/>
              </a:rPr>
              <a:t>                </a:t>
            </a:r>
            <a:r>
              <a:rPr b="1" lang="en-IN" sz="2000">
                <a:latin typeface="Times New Roman"/>
                <a:ea typeface="Times New Roman"/>
                <a:cs typeface="Times New Roman"/>
                <a:sym typeface="Times New Roman"/>
              </a:rPr>
              <a:t>Batch</a:t>
            </a:r>
            <a:r>
              <a:rPr lang="en-IN" sz="2000">
                <a:latin typeface="Times New Roman"/>
                <a:ea typeface="Times New Roman"/>
                <a:cs typeface="Times New Roman"/>
                <a:sym typeface="Times New Roman"/>
              </a:rPr>
              <a:t> </a:t>
            </a:r>
            <a:r>
              <a:rPr b="1" lang="en-IN" sz="2000">
                <a:latin typeface="Times New Roman"/>
                <a:ea typeface="Times New Roman"/>
                <a:cs typeface="Times New Roman"/>
                <a:sym typeface="Times New Roman"/>
              </a:rPr>
              <a:t>No:A17</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D.Gowtham                     23FE1A0542</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G.S.V.Tejaswini              24FE5A0504</a:t>
            </a:r>
            <a:endParaRPr sz="2000">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2000"/>
              <a:buNone/>
            </a:pPr>
            <a:r>
              <a:rPr lang="en-IN" sz="2000">
                <a:latin typeface="Times New Roman"/>
                <a:ea typeface="Times New Roman"/>
                <a:cs typeface="Times New Roman"/>
                <a:sym typeface="Times New Roman"/>
              </a:rPr>
              <a:t>B.Abhiram                      23FE1A0523</a:t>
            </a:r>
            <a:r>
              <a:rPr lang="en-IN" sz="1100">
                <a:latin typeface="Arial"/>
                <a:ea typeface="Arial"/>
                <a:cs typeface="Arial"/>
                <a:sym typeface="Arial"/>
              </a:rPr>
              <a:t> </a:t>
            </a:r>
            <a:endParaRPr sz="2000">
              <a:latin typeface="Times New Roman"/>
              <a:ea typeface="Times New Roman"/>
              <a:cs typeface="Times New Roman"/>
              <a:sym typeface="Times New Roman"/>
            </a:endParaRPr>
          </a:p>
        </p:txBody>
      </p:sp>
      <p:sp>
        <p:nvSpPr>
          <p:cNvPr id="85" name="Google Shape;85;p13"/>
          <p:cNvSpPr txBox="1"/>
          <p:nvPr>
            <p:ph type="title"/>
          </p:nvPr>
        </p:nvSpPr>
        <p:spPr>
          <a:xfrm>
            <a:off x="628650" y="365126"/>
            <a:ext cx="8321386" cy="23688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2"/>
              </a:buClr>
              <a:buSzPts val="2000"/>
              <a:buFont typeface="Times New Roman"/>
              <a:buNone/>
            </a:pPr>
            <a:r>
              <a:rPr b="1" lang="en-IN" sz="2000">
                <a:solidFill>
                  <a:schemeClr val="dk2"/>
                </a:solidFill>
                <a:latin typeface="Times New Roman"/>
                <a:ea typeface="Times New Roman"/>
                <a:cs typeface="Times New Roman"/>
                <a:sym typeface="Times New Roman"/>
              </a:rPr>
              <a:t>    </a:t>
            </a:r>
            <a:r>
              <a:rPr b="1" lang="en-IN" sz="2000">
                <a:latin typeface="Times New Roman"/>
                <a:ea typeface="Times New Roman"/>
                <a:cs typeface="Times New Roman"/>
                <a:sym typeface="Times New Roman"/>
              </a:rPr>
              <a:t>DEPARTMENT OF COMPUTER SCIENCE AND ENGINEERING                  </a:t>
            </a:r>
            <a:r>
              <a:rPr lang="en-IN" sz="2000">
                <a:latin typeface="Times New Roman"/>
                <a:ea typeface="Times New Roman"/>
                <a:cs typeface="Times New Roman"/>
                <a:sym typeface="Times New Roman"/>
              </a:rPr>
              <a:t>VIGNAN’S LARA INSTITUTE OF TECHNOLOGY AND SCIENCE</a:t>
            </a:r>
            <a:br>
              <a:rPr b="1" lang="en-IN" sz="2000">
                <a:solidFill>
                  <a:schemeClr val="dk2"/>
                </a:solidFill>
                <a:latin typeface="Times New Roman"/>
                <a:ea typeface="Times New Roman"/>
                <a:cs typeface="Times New Roman"/>
                <a:sym typeface="Times New Roman"/>
              </a:rPr>
            </a:br>
            <a:br>
              <a:rPr b="1" lang="en-IN" sz="2000">
                <a:solidFill>
                  <a:schemeClr val="dk2"/>
                </a:solidFill>
                <a:latin typeface="Times New Roman"/>
                <a:ea typeface="Times New Roman"/>
                <a:cs typeface="Times New Roman"/>
                <a:sym typeface="Times New Roman"/>
              </a:rPr>
            </a:br>
            <a:r>
              <a:rPr lang="en-IN" sz="2000">
                <a:latin typeface="Times New Roman"/>
                <a:ea typeface="Times New Roman"/>
                <a:cs typeface="Times New Roman"/>
                <a:sym typeface="Times New Roman"/>
              </a:rPr>
              <a:t>Project</a:t>
            </a:r>
            <a:r>
              <a:rPr b="1" lang="en-IN" sz="2000">
                <a:latin typeface="Times New Roman"/>
                <a:ea typeface="Times New Roman"/>
                <a:cs typeface="Times New Roman"/>
                <a:sym typeface="Times New Roman"/>
              </a:rPr>
              <a:t> </a:t>
            </a:r>
            <a:r>
              <a:rPr lang="en-IN" sz="2000">
                <a:latin typeface="Times New Roman"/>
                <a:ea typeface="Times New Roman"/>
                <a:cs typeface="Times New Roman"/>
                <a:sym typeface="Times New Roman"/>
              </a:rPr>
              <a:t>Review</a:t>
            </a:r>
            <a:br>
              <a:rPr b="1" lang="en-IN" sz="2000">
                <a:latin typeface="Times New Roman"/>
                <a:ea typeface="Times New Roman"/>
                <a:cs typeface="Times New Roman"/>
                <a:sym typeface="Times New Roman"/>
              </a:rPr>
            </a:br>
            <a:br>
              <a:rPr b="1" lang="en-IN" sz="2000">
                <a:latin typeface="Times New Roman"/>
                <a:ea typeface="Times New Roman"/>
                <a:cs typeface="Times New Roman"/>
                <a:sym typeface="Times New Roman"/>
              </a:rPr>
            </a:br>
            <a:r>
              <a:rPr lang="en-IN" sz="2000">
                <a:latin typeface="Times New Roman"/>
                <a:ea typeface="Times New Roman"/>
                <a:cs typeface="Times New Roman"/>
                <a:sym typeface="Times New Roman"/>
              </a:rPr>
              <a:t>on</a:t>
            </a:r>
            <a:br>
              <a:rPr b="1" lang="en-IN" sz="2000">
                <a:latin typeface="Times New Roman"/>
                <a:ea typeface="Times New Roman"/>
                <a:cs typeface="Times New Roman"/>
                <a:sym typeface="Times New Roman"/>
              </a:rPr>
            </a:br>
            <a:br>
              <a:rPr b="1" lang="en-IN" sz="2000">
                <a:latin typeface="Times New Roman"/>
                <a:ea typeface="Times New Roman"/>
                <a:cs typeface="Times New Roman"/>
                <a:sym typeface="Times New Roman"/>
              </a:rPr>
            </a:br>
            <a:r>
              <a:rPr lang="en-IN" sz="2000">
                <a:latin typeface="Times New Roman"/>
                <a:ea typeface="Times New Roman"/>
                <a:cs typeface="Times New Roman"/>
                <a:sym typeface="Times New Roman"/>
              </a:rPr>
              <a:t>SmartMaps: An AI-Powered Safe Route Navigation and Urban Insight System </a:t>
            </a:r>
            <a:r>
              <a:rPr b="1" lang="en-IN" sz="2000">
                <a:latin typeface="Times New Roman"/>
                <a:ea typeface="Times New Roman"/>
                <a:cs typeface="Times New Roman"/>
                <a:sym typeface="Times New Roman"/>
              </a:rPr>
              <a:t> </a:t>
            </a:r>
            <a:endParaRPr b="1" sz="2200">
              <a:latin typeface="Times New Roman"/>
              <a:ea typeface="Times New Roman"/>
              <a:cs typeface="Times New Roman"/>
              <a:sym typeface="Times New Roman"/>
            </a:endParaRPr>
          </a:p>
        </p:txBody>
      </p:sp>
      <p:sp>
        <p:nvSpPr>
          <p:cNvPr id="86" name="Google Shape;86;p13"/>
          <p:cNvSpPr txBox="1"/>
          <p:nvPr>
            <p:ph idx="1" type="body"/>
          </p:nvPr>
        </p:nvSpPr>
        <p:spPr>
          <a:xfrm>
            <a:off x="628650" y="3223650"/>
            <a:ext cx="3702300" cy="23253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000"/>
              <a:buNone/>
            </a:pPr>
            <a:r>
              <a:rPr lang="en-IN" sz="2000">
                <a:latin typeface="Times New Roman"/>
                <a:ea typeface="Times New Roman"/>
                <a:cs typeface="Times New Roman"/>
                <a:sym typeface="Times New Roman"/>
              </a:rPr>
              <a:t>Under the Esteemed Guidance of</a:t>
            </a:r>
            <a:endParaRPr/>
          </a:p>
          <a:p>
            <a:pPr indent="0" lvl="0" marL="0" rtl="0" algn="ctr">
              <a:lnSpc>
                <a:spcPct val="90000"/>
              </a:lnSpc>
              <a:spcBef>
                <a:spcPts val="1000"/>
              </a:spcBef>
              <a:spcAft>
                <a:spcPts val="0"/>
              </a:spcAft>
              <a:buClr>
                <a:schemeClr val="dk1"/>
              </a:buClr>
              <a:buSzPts val="2000"/>
              <a:buNone/>
            </a:pPr>
            <a:r>
              <a:rPr b="1" lang="en-IN" sz="2000">
                <a:latin typeface="Times New Roman"/>
                <a:ea typeface="Times New Roman"/>
                <a:cs typeface="Times New Roman"/>
                <a:sym typeface="Times New Roman"/>
              </a:rPr>
              <a:t>Ms. M. Aasha Priyadharshini</a:t>
            </a:r>
            <a:endParaRPr b="1" sz="2000">
              <a:latin typeface="Times New Roman"/>
              <a:ea typeface="Times New Roman"/>
              <a:cs typeface="Times New Roman"/>
              <a:sym typeface="Times New Roman"/>
            </a:endParaRPr>
          </a:p>
          <a:p>
            <a:pPr indent="0" lvl="0" marL="0" rtl="0" algn="ctr">
              <a:spcBef>
                <a:spcPts val="1000"/>
              </a:spcBef>
              <a:spcAft>
                <a:spcPts val="0"/>
              </a:spcAft>
              <a:buClr>
                <a:schemeClr val="dk1"/>
              </a:buClr>
              <a:buSzPts val="1100"/>
              <a:buFont typeface="Arial"/>
              <a:buNone/>
            </a:pPr>
            <a:r>
              <a:rPr lang="en-IN" sz="2000">
                <a:latin typeface="Times New Roman"/>
                <a:ea typeface="Times New Roman"/>
                <a:cs typeface="Times New Roman"/>
                <a:sym typeface="Times New Roman"/>
              </a:rPr>
              <a:t>M.tech(Ph.D)</a:t>
            </a:r>
            <a:endParaRPr sz="2000">
              <a:latin typeface="Times New Roman"/>
              <a:ea typeface="Times New Roman"/>
              <a:cs typeface="Times New Roman"/>
              <a:sym typeface="Times New Roman"/>
            </a:endParaRPr>
          </a:p>
          <a:p>
            <a:pPr indent="0" lvl="0" marL="0" rtl="0" algn="ctr">
              <a:spcBef>
                <a:spcPts val="1000"/>
              </a:spcBef>
              <a:spcAft>
                <a:spcPts val="0"/>
              </a:spcAft>
              <a:buClr>
                <a:schemeClr val="dk1"/>
              </a:buClr>
              <a:buSzPts val="1100"/>
              <a:buNone/>
            </a:pPr>
            <a:r>
              <a:rPr lang="en-IN" sz="2000">
                <a:latin typeface="Times New Roman"/>
                <a:ea typeface="Times New Roman"/>
                <a:cs typeface="Times New Roman"/>
                <a:sym typeface="Times New Roman"/>
              </a:rPr>
              <a:t>Associate</a:t>
            </a:r>
            <a:r>
              <a:rPr lang="en-IN" sz="2000">
                <a:latin typeface="Times New Roman"/>
                <a:ea typeface="Times New Roman"/>
                <a:cs typeface="Times New Roman"/>
                <a:sym typeface="Times New Roman"/>
              </a:rPr>
              <a:t> professor</a:t>
            </a:r>
            <a:endParaRPr sz="2000">
              <a:latin typeface="Times New Roman"/>
              <a:ea typeface="Times New Roman"/>
              <a:cs typeface="Times New Roman"/>
              <a:sym typeface="Times New Roman"/>
            </a:endParaRPr>
          </a:p>
          <a:p>
            <a:pPr indent="0" lvl="0" marL="0" rtl="0" algn="ctr">
              <a:lnSpc>
                <a:spcPct val="90000"/>
              </a:lnSpc>
              <a:spcBef>
                <a:spcPts val="1000"/>
              </a:spcBef>
              <a:spcAft>
                <a:spcPts val="0"/>
              </a:spcAft>
              <a:buClr>
                <a:srgbClr val="000000"/>
              </a:buClr>
              <a:buSzPts val="2000"/>
              <a:buNone/>
            </a:pPr>
            <a:r>
              <a:rPr lang="en-IN" sz="2000">
                <a:solidFill>
                  <a:srgbClr val="000000"/>
                </a:solidFill>
                <a:latin typeface="Times New Roman"/>
                <a:ea typeface="Times New Roman"/>
                <a:cs typeface="Times New Roman"/>
                <a:sym typeface="Times New Roman"/>
              </a:rPr>
              <a:t>CSE Department</a:t>
            </a:r>
            <a:endParaRPr sz="2000">
              <a:latin typeface="Times New Roman"/>
              <a:ea typeface="Times New Roman"/>
              <a:cs typeface="Times New Roman"/>
              <a:sym typeface="Times New Roman"/>
            </a:endParaRPr>
          </a:p>
        </p:txBody>
      </p:sp>
      <p:pic>
        <p:nvPicPr>
          <p:cNvPr descr="logo.png" id="87" name="Google Shape;87;p13"/>
          <p:cNvPicPr preferRelativeResize="0"/>
          <p:nvPr/>
        </p:nvPicPr>
        <p:blipFill rotWithShape="1">
          <a:blip r:embed="rId3">
            <a:alphaModFix/>
          </a:blip>
          <a:srcRect b="0" l="0" r="0" t="0"/>
          <a:stretch/>
        </p:blipFill>
        <p:spPr>
          <a:xfrm>
            <a:off x="138547" y="251108"/>
            <a:ext cx="928695" cy="857256"/>
          </a:xfrm>
          <a:prstGeom prst="rect">
            <a:avLst/>
          </a:prstGeom>
          <a:noFill/>
          <a:ln>
            <a:noFill/>
          </a:ln>
        </p:spPr>
      </p:pic>
      <p:sp>
        <p:nvSpPr>
          <p:cNvPr id="88" name="Google Shape;88;p13"/>
          <p:cNvSpPr/>
          <p:nvPr/>
        </p:nvSpPr>
        <p:spPr>
          <a:xfrm flipH="1">
            <a:off x="498765" y="6338985"/>
            <a:ext cx="8811489" cy="307777"/>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                                               Department of Computer Science &amp; Engineering                                                       01</a:t>
            </a:r>
            <a:endParaRPr/>
          </a:p>
        </p:txBody>
      </p:sp>
      <p:cxnSp>
        <p:nvCxnSpPr>
          <p:cNvPr id="89" name="Google Shape;89;p13"/>
          <p:cNvCxnSpPr/>
          <p:nvPr/>
        </p:nvCxnSpPr>
        <p:spPr>
          <a:xfrm>
            <a:off x="1067242" y="1108364"/>
            <a:ext cx="7674976" cy="0"/>
          </a:xfrm>
          <a:prstGeom prst="straightConnector1">
            <a:avLst/>
          </a:prstGeom>
          <a:noFill/>
          <a:ln cap="flat" cmpd="sng" w="9525">
            <a:solidFill>
              <a:schemeClr val="accent1"/>
            </a:solidFill>
            <a:prstDash val="solid"/>
            <a:miter lim="8000"/>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1005665" y="316721"/>
            <a:ext cx="7566545"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TITLE</a:t>
            </a:r>
            <a:endParaRPr sz="1400">
              <a:solidFill>
                <a:srgbClr val="000000"/>
              </a:solidFill>
              <a:latin typeface="Times New Roman"/>
              <a:ea typeface="Times New Roman"/>
              <a:cs typeface="Times New Roman"/>
              <a:sym typeface="Times New Roman"/>
            </a:endParaRPr>
          </a:p>
        </p:txBody>
      </p:sp>
      <p:sp>
        <p:nvSpPr>
          <p:cNvPr id="95" name="Google Shape;95;p14"/>
          <p:cNvSpPr txBox="1"/>
          <p:nvPr>
            <p:ph idx="1" type="body"/>
          </p:nvPr>
        </p:nvSpPr>
        <p:spPr>
          <a:xfrm>
            <a:off x="630575" y="2669300"/>
            <a:ext cx="7844400" cy="20760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None/>
            </a:pPr>
            <a:r>
              <a:rPr b="1" lang="en-IN" sz="4000">
                <a:latin typeface="Times New Roman"/>
                <a:ea typeface="Times New Roman"/>
                <a:cs typeface="Times New Roman"/>
                <a:sym typeface="Times New Roman"/>
              </a:rPr>
              <a:t>SmartMaps: An AI-Powered Safe Route Navigation and Urban Insight System </a:t>
            </a:r>
            <a:endParaRPr b="1" sz="4000">
              <a:latin typeface="Times New Roman"/>
              <a:ea typeface="Times New Roman"/>
              <a:cs typeface="Times New Roman"/>
              <a:sym typeface="Times New Roman"/>
            </a:endParaRPr>
          </a:p>
        </p:txBody>
      </p:sp>
      <p:pic>
        <p:nvPicPr>
          <p:cNvPr descr="logo.png" id="96" name="Google Shape;96;p14"/>
          <p:cNvPicPr preferRelativeResize="0"/>
          <p:nvPr/>
        </p:nvPicPr>
        <p:blipFill rotWithShape="1">
          <a:blip r:embed="rId3">
            <a:alphaModFix/>
          </a:blip>
          <a:srcRect b="0" l="0" r="0" t="0"/>
          <a:stretch/>
        </p:blipFill>
        <p:spPr>
          <a:xfrm>
            <a:off x="76971" y="316721"/>
            <a:ext cx="928695" cy="857256"/>
          </a:xfrm>
          <a:prstGeom prst="rect">
            <a:avLst/>
          </a:prstGeom>
          <a:noFill/>
          <a:ln>
            <a:noFill/>
          </a:ln>
        </p:spPr>
      </p:pic>
      <p:sp>
        <p:nvSpPr>
          <p:cNvPr id="97" name="Google Shape;97;p14"/>
          <p:cNvSpPr txBox="1"/>
          <p:nvPr/>
        </p:nvSpPr>
        <p:spPr>
          <a:xfrm>
            <a:off x="0" y="6352375"/>
            <a:ext cx="9144000" cy="509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Calibri"/>
                <a:ea typeface="Calibri"/>
                <a:cs typeface="Calibri"/>
                <a:sym typeface="Calibri"/>
              </a:rPr>
              <a:t>     Department of Computer Science &amp; Engineering</a:t>
            </a:r>
            <a:endParaRPr b="1" i="0" sz="1800" u="none" cap="none" strike="noStrike">
              <a:solidFill>
                <a:schemeClr val="lt1"/>
              </a:solidFill>
              <a:latin typeface="Calibri"/>
              <a:ea typeface="Calibri"/>
              <a:cs typeface="Calibri"/>
              <a:sym typeface="Calibri"/>
            </a:endParaRPr>
          </a:p>
        </p:txBody>
      </p:sp>
      <p:sp>
        <p:nvSpPr>
          <p:cNvPr id="98" name="Google Shape;98;p14"/>
          <p:cNvSpPr txBox="1"/>
          <p:nvPr/>
        </p:nvSpPr>
        <p:spPr>
          <a:xfrm>
            <a:off x="1005675" y="1592688"/>
            <a:ext cx="5820000" cy="657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Calibri"/>
                <a:ea typeface="Calibri"/>
                <a:cs typeface="Calibri"/>
                <a:sym typeface="Calibri"/>
              </a:rPr>
              <a:t>Enering</a:t>
            </a:r>
            <a:endParaRPr b="1" i="0" sz="1800" u="none" cap="none" strike="noStrike">
              <a:solidFill>
                <a:schemeClr val="lt1"/>
              </a:solidFill>
              <a:latin typeface="Calibri"/>
              <a:ea typeface="Calibri"/>
              <a:cs typeface="Calibri"/>
              <a:sym typeface="Calibri"/>
            </a:endParaRPr>
          </a:p>
        </p:txBody>
      </p:sp>
      <p:sp>
        <p:nvSpPr>
          <p:cNvPr id="99" name="Google Shape;99;p14"/>
          <p:cNvSpPr txBox="1"/>
          <p:nvPr/>
        </p:nvSpPr>
        <p:spPr>
          <a:xfrm>
            <a:off x="-19225" y="6159700"/>
            <a:ext cx="9163200" cy="7389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02</a:t>
            </a:r>
            <a:endParaRPr b="1"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1175657" y="318282"/>
            <a:ext cx="7516626" cy="856477"/>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CONTENTS</a:t>
            </a:r>
            <a:endParaRPr sz="1400">
              <a:solidFill>
                <a:srgbClr val="000000"/>
              </a:solidFill>
              <a:latin typeface="Times New Roman"/>
              <a:ea typeface="Times New Roman"/>
              <a:cs typeface="Times New Roman"/>
              <a:sym typeface="Times New Roman"/>
            </a:endParaRPr>
          </a:p>
        </p:txBody>
      </p:sp>
      <p:sp>
        <p:nvSpPr>
          <p:cNvPr id="105" name="Google Shape;105;p15"/>
          <p:cNvSpPr txBox="1"/>
          <p:nvPr>
            <p:ph idx="1" type="body"/>
          </p:nvPr>
        </p:nvSpPr>
        <p:spPr>
          <a:xfrm>
            <a:off x="1175650" y="1265375"/>
            <a:ext cx="6574500" cy="4776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IN" sz="1800">
                <a:latin typeface="Times New Roman"/>
                <a:ea typeface="Times New Roman"/>
                <a:cs typeface="Times New Roman"/>
                <a:sym typeface="Times New Roman"/>
              </a:rPr>
              <a:t>✔Title</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✔Abstract</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✔Problem Statement</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✔Introduction</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✔Literature Survey</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✔Existing System</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✔Proposed System</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 System Architecture</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 Proposed Methodology</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 Technology Stack</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✔Future Scope</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✔Results</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IN" sz="1800">
                <a:latin typeface="Times New Roman"/>
                <a:ea typeface="Times New Roman"/>
                <a:cs typeface="Times New Roman"/>
                <a:sym typeface="Times New Roman"/>
              </a:rPr>
              <a:t>✔Conclusion</a:t>
            </a:r>
            <a:endParaRPr sz="1800">
              <a:latin typeface="Times New Roman"/>
              <a:ea typeface="Times New Roman"/>
              <a:cs typeface="Times New Roman"/>
              <a:sym typeface="Times New Roman"/>
            </a:endParaRPr>
          </a:p>
        </p:txBody>
      </p:sp>
      <p:pic>
        <p:nvPicPr>
          <p:cNvPr descr="logo.png" id="106" name="Google Shape;106;p15"/>
          <p:cNvPicPr preferRelativeResize="0"/>
          <p:nvPr/>
        </p:nvPicPr>
        <p:blipFill rotWithShape="1">
          <a:blip r:embed="rId3">
            <a:alphaModFix/>
          </a:blip>
          <a:srcRect b="0" l="0" r="0" t="0"/>
          <a:stretch/>
        </p:blipFill>
        <p:spPr>
          <a:xfrm>
            <a:off x="166255" y="317503"/>
            <a:ext cx="928695" cy="857256"/>
          </a:xfrm>
          <a:prstGeom prst="rect">
            <a:avLst/>
          </a:prstGeom>
          <a:noFill/>
          <a:ln>
            <a:noFill/>
          </a:ln>
        </p:spPr>
      </p:pic>
      <p:sp>
        <p:nvSpPr>
          <p:cNvPr id="107" name="Google Shape;107;p15"/>
          <p:cNvSpPr txBox="1"/>
          <p:nvPr/>
        </p:nvSpPr>
        <p:spPr>
          <a:xfrm>
            <a:off x="0" y="6179127"/>
            <a:ext cx="9144000"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03                               </a:t>
            </a:r>
            <a:endParaRPr b="1"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ph idx="1" type="body"/>
          </p:nvPr>
        </p:nvSpPr>
        <p:spPr>
          <a:xfrm>
            <a:off x="498025" y="1508173"/>
            <a:ext cx="7886700" cy="3589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530"/>
              <a:buNone/>
            </a:pPr>
            <a:r>
              <a:rPr b="1" lang="en-IN" sz="1830">
                <a:latin typeface="Times New Roman"/>
                <a:ea typeface="Times New Roman"/>
                <a:cs typeface="Times New Roman"/>
                <a:sym typeface="Times New Roman"/>
              </a:rPr>
              <a:t>SmartMaps </a:t>
            </a:r>
            <a:r>
              <a:rPr lang="en-IN" sz="1830">
                <a:latin typeface="Times New Roman"/>
                <a:ea typeface="Times New Roman"/>
                <a:cs typeface="Times New Roman"/>
                <a:sym typeface="Times New Roman"/>
              </a:rPr>
              <a:t>is an AI-assisted navigation and urban insight system developed to overcome the limitations of conventional navigation applications that primarily prioritize shortest distance or minimum travel time. The system generates multiple alternative routes and evaluates them using contextual factors such as road type, traffic congestion, road closures, time of travel, nearby active locations, street lighting, and air pollution. A bounded safety risk score from 1 to 6 is calculated for each route, where a lower score represents a safer route. The system also provides separate traffic-aware and low-pollution route selection and can combine these environmental factors when both options are enabled. The application uses a React-based interactive map frontend and a Flask backend integrated with external mapping, traffic, weather, air-quality, and location-data services. The resulting system provides users with a more informed and context-aware navigation experience. </a:t>
            </a:r>
            <a:endParaRPr sz="1830">
              <a:latin typeface="Times New Roman"/>
              <a:ea typeface="Times New Roman"/>
              <a:cs typeface="Times New Roman"/>
              <a:sym typeface="Times New Roman"/>
            </a:endParaRPr>
          </a:p>
        </p:txBody>
      </p:sp>
      <p:pic>
        <p:nvPicPr>
          <p:cNvPr descr="logo.png" id="113" name="Google Shape;113;p16"/>
          <p:cNvPicPr preferRelativeResize="0"/>
          <p:nvPr/>
        </p:nvPicPr>
        <p:blipFill rotWithShape="1">
          <a:blip r:embed="rId3">
            <a:alphaModFix/>
          </a:blip>
          <a:srcRect b="0" l="0" r="0" t="0"/>
          <a:stretch/>
        </p:blipFill>
        <p:spPr>
          <a:xfrm>
            <a:off x="101600" y="256208"/>
            <a:ext cx="928695" cy="857256"/>
          </a:xfrm>
          <a:prstGeom prst="rect">
            <a:avLst/>
          </a:prstGeom>
          <a:noFill/>
          <a:ln>
            <a:noFill/>
          </a:ln>
        </p:spPr>
      </p:pic>
      <p:sp>
        <p:nvSpPr>
          <p:cNvPr id="114" name="Google Shape;114;p16"/>
          <p:cNvSpPr txBox="1"/>
          <p:nvPr>
            <p:ph type="title"/>
          </p:nvPr>
        </p:nvSpPr>
        <p:spPr>
          <a:xfrm>
            <a:off x="1030288" y="332508"/>
            <a:ext cx="7485062" cy="780955"/>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ABSTRACT</a:t>
            </a:r>
            <a:endParaRPr sz="3600">
              <a:solidFill>
                <a:srgbClr val="000000"/>
              </a:solidFill>
              <a:latin typeface="Times New Roman"/>
              <a:ea typeface="Times New Roman"/>
              <a:cs typeface="Times New Roman"/>
              <a:sym typeface="Times New Roman"/>
            </a:endParaRPr>
          </a:p>
        </p:txBody>
      </p:sp>
      <p:sp>
        <p:nvSpPr>
          <p:cNvPr id="115" name="Google Shape;115;p16"/>
          <p:cNvSpPr txBox="1"/>
          <p:nvPr/>
        </p:nvSpPr>
        <p:spPr>
          <a:xfrm>
            <a:off x="0" y="6179127"/>
            <a:ext cx="9144000"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04</a:t>
            </a:r>
            <a:endParaRPr b="1"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idx="1" type="body"/>
          </p:nvPr>
        </p:nvSpPr>
        <p:spPr>
          <a:xfrm>
            <a:off x="499633" y="1244931"/>
            <a:ext cx="8063400" cy="46005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800"/>
              <a:buNone/>
            </a:pPr>
            <a:r>
              <a:rPr lang="en-IN" sz="1800">
                <a:latin typeface="Times New Roman"/>
                <a:ea typeface="Times New Roman"/>
                <a:cs typeface="Times New Roman"/>
                <a:sym typeface="Times New Roman"/>
              </a:rPr>
              <a:t>Current navigation systems mainly focus on finding the shortest or fastest route and may not adequately consider factors such as safety, pollution, road lighting, nearby public activity, traffic congestion, or road closures. Consequently, a route that is optimal in terms of distance may not always be the most suitable route for a user, particularly during late-night travel or in areas with poor lighting, heavy congestion, or higher pollution. SmartMaps addresses this problem by generating multiple routes and evaluating them using real-time and contextual information to recommend a safer, healthier, and more practical route. </a:t>
            </a:r>
            <a:endParaRPr sz="1800">
              <a:latin typeface="Times New Roman"/>
              <a:ea typeface="Times New Roman"/>
              <a:cs typeface="Times New Roman"/>
              <a:sym typeface="Times New Roman"/>
            </a:endParaRPr>
          </a:p>
        </p:txBody>
      </p:sp>
      <p:sp>
        <p:nvSpPr>
          <p:cNvPr id="121" name="Google Shape;121;p17"/>
          <p:cNvSpPr txBox="1"/>
          <p:nvPr>
            <p:ph type="title"/>
          </p:nvPr>
        </p:nvSpPr>
        <p:spPr>
          <a:xfrm>
            <a:off x="1030295" y="316726"/>
            <a:ext cx="7532683" cy="796737"/>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PROBLEM</a:t>
            </a:r>
            <a:r>
              <a:rPr b="1" lang="en-IN">
                <a:solidFill>
                  <a:schemeClr val="lt1"/>
                </a:solidFill>
                <a:latin typeface="Times New Roman"/>
                <a:ea typeface="Times New Roman"/>
                <a:cs typeface="Times New Roman"/>
                <a:sym typeface="Times New Roman"/>
              </a:rPr>
              <a:t> </a:t>
            </a:r>
            <a:r>
              <a:rPr b="1" lang="en-IN" sz="3600">
                <a:solidFill>
                  <a:schemeClr val="lt1"/>
                </a:solidFill>
                <a:latin typeface="Times New Roman"/>
                <a:ea typeface="Times New Roman"/>
                <a:cs typeface="Times New Roman"/>
                <a:sym typeface="Times New Roman"/>
              </a:rPr>
              <a:t>STATEMENT</a:t>
            </a:r>
            <a:endParaRPr sz="3600">
              <a:solidFill>
                <a:srgbClr val="000000"/>
              </a:solidFill>
              <a:latin typeface="Times New Roman"/>
              <a:ea typeface="Times New Roman"/>
              <a:cs typeface="Times New Roman"/>
              <a:sym typeface="Times New Roman"/>
            </a:endParaRPr>
          </a:p>
        </p:txBody>
      </p:sp>
      <p:pic>
        <p:nvPicPr>
          <p:cNvPr descr="logo.png" id="122" name="Google Shape;122;p17"/>
          <p:cNvPicPr preferRelativeResize="0"/>
          <p:nvPr/>
        </p:nvPicPr>
        <p:blipFill rotWithShape="1">
          <a:blip r:embed="rId3">
            <a:alphaModFix/>
          </a:blip>
          <a:srcRect b="0" l="0" r="0" t="0"/>
          <a:stretch/>
        </p:blipFill>
        <p:spPr>
          <a:xfrm>
            <a:off x="101600" y="256208"/>
            <a:ext cx="928695" cy="857256"/>
          </a:xfrm>
          <a:prstGeom prst="rect">
            <a:avLst/>
          </a:prstGeom>
          <a:noFill/>
          <a:ln>
            <a:noFill/>
          </a:ln>
        </p:spPr>
      </p:pic>
      <p:sp>
        <p:nvSpPr>
          <p:cNvPr id="123" name="Google Shape;123;p17"/>
          <p:cNvSpPr txBox="1"/>
          <p:nvPr/>
        </p:nvSpPr>
        <p:spPr>
          <a:xfrm>
            <a:off x="0" y="6179127"/>
            <a:ext cx="9144000"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05</a:t>
            </a:r>
            <a:endParaRPr b="1"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ph idx="1" type="body"/>
          </p:nvPr>
        </p:nvSpPr>
        <p:spPr>
          <a:xfrm>
            <a:off x="481700" y="1488475"/>
            <a:ext cx="8033400" cy="4028100"/>
          </a:xfrm>
          <a:prstGeom prst="rect">
            <a:avLst/>
          </a:prstGeom>
          <a:noFill/>
          <a:ln>
            <a:noFill/>
          </a:ln>
        </p:spPr>
        <p:txBody>
          <a:bodyPr anchorCtr="0" anchor="ctr" bIns="45700" lIns="91425" spcFirstLastPara="1" rIns="91425" wrap="square" tIns="45700">
            <a:spAutoFit/>
          </a:bodyPr>
          <a:lstStyle/>
          <a:p>
            <a:pPr indent="0" lvl="0" marL="0" rtl="0" algn="l">
              <a:lnSpc>
                <a:spcPct val="115000"/>
              </a:lnSpc>
              <a:spcBef>
                <a:spcPts val="1200"/>
              </a:spcBef>
              <a:spcAft>
                <a:spcPts val="0"/>
              </a:spcAft>
              <a:buNone/>
            </a:pPr>
            <a:r>
              <a:rPr lang="en-IN" sz="1800">
                <a:latin typeface="Times New Roman"/>
                <a:ea typeface="Times New Roman"/>
                <a:cs typeface="Times New Roman"/>
                <a:sym typeface="Times New Roman"/>
              </a:rPr>
              <a:t>Navigation technology has become an essential part of everyday transportation, but conventional navigation generally emphasizes distance and travel time. </a:t>
            </a:r>
            <a:r>
              <a:rPr b="1" lang="en-IN" sz="1800">
                <a:latin typeface="Times New Roman"/>
                <a:ea typeface="Times New Roman"/>
                <a:cs typeface="Times New Roman"/>
                <a:sym typeface="Times New Roman"/>
              </a:rPr>
              <a:t>SmartMaps</a:t>
            </a:r>
            <a:r>
              <a:rPr lang="en-IN" sz="1800">
                <a:latin typeface="Times New Roman"/>
                <a:ea typeface="Times New Roman"/>
                <a:cs typeface="Times New Roman"/>
                <a:sym typeface="Times New Roman"/>
              </a:rPr>
              <a:t> introduces a broader approach in which route selection considers not only efficiency but also safety and environmental conditions.</a:t>
            </a:r>
            <a:endParaRPr sz="1800">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IN" sz="1800">
                <a:latin typeface="Times New Roman"/>
                <a:ea typeface="Times New Roman"/>
                <a:cs typeface="Times New Roman"/>
                <a:sym typeface="Times New Roman"/>
              </a:rPr>
              <a:t>The system allows users to enter a source and destination and select different travel modes such as car, bike, or walking. </a:t>
            </a:r>
            <a:r>
              <a:rPr b="1" lang="en-IN" sz="1800">
                <a:latin typeface="Times New Roman"/>
                <a:ea typeface="Times New Roman"/>
                <a:cs typeface="Times New Roman"/>
                <a:sym typeface="Times New Roman"/>
              </a:rPr>
              <a:t>OpenRouteService </a:t>
            </a:r>
            <a:r>
              <a:rPr lang="en-IN" sz="1800">
                <a:latin typeface="Times New Roman"/>
                <a:ea typeface="Times New Roman"/>
                <a:cs typeface="Times New Roman"/>
                <a:sym typeface="Times New Roman"/>
              </a:rPr>
              <a:t>generates alternative routes, after which the backend analyzes each route using road type, time of day, live traffic conditions, nearby points of interest, street lighting, and air-quality information. The resulting information is presented through an interactive map so that users can compare routes and make better travel decisions. The project implements separate strategies for safest, lowest-pollution, lowest-traffic, and combined environmental route selection.</a:t>
            </a:r>
            <a:endParaRPr sz="1800">
              <a:latin typeface="Times New Roman"/>
              <a:ea typeface="Times New Roman"/>
              <a:cs typeface="Times New Roman"/>
              <a:sym typeface="Times New Roman"/>
            </a:endParaRPr>
          </a:p>
        </p:txBody>
      </p:sp>
      <p:pic>
        <p:nvPicPr>
          <p:cNvPr descr="logo.png" id="129" name="Google Shape;129;p18"/>
          <p:cNvPicPr preferRelativeResize="0"/>
          <p:nvPr/>
        </p:nvPicPr>
        <p:blipFill rotWithShape="1">
          <a:blip r:embed="rId3">
            <a:alphaModFix/>
          </a:blip>
          <a:srcRect b="0" l="0" r="0" t="0"/>
          <a:stretch/>
        </p:blipFill>
        <p:spPr>
          <a:xfrm>
            <a:off x="101593" y="255582"/>
            <a:ext cx="928695" cy="857256"/>
          </a:xfrm>
          <a:prstGeom prst="rect">
            <a:avLst/>
          </a:prstGeom>
          <a:noFill/>
          <a:ln>
            <a:noFill/>
          </a:ln>
        </p:spPr>
      </p:pic>
      <p:sp>
        <p:nvSpPr>
          <p:cNvPr id="130" name="Google Shape;130;p18"/>
          <p:cNvSpPr txBox="1"/>
          <p:nvPr>
            <p:ph type="title"/>
          </p:nvPr>
        </p:nvSpPr>
        <p:spPr>
          <a:xfrm>
            <a:off x="1030288" y="255588"/>
            <a:ext cx="7485062" cy="85725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INTRODUCTION</a:t>
            </a:r>
            <a:endParaRPr sz="3600">
              <a:solidFill>
                <a:srgbClr val="000000"/>
              </a:solidFill>
              <a:latin typeface="Times New Roman"/>
              <a:ea typeface="Times New Roman"/>
              <a:cs typeface="Times New Roman"/>
              <a:sym typeface="Times New Roman"/>
            </a:endParaRPr>
          </a:p>
        </p:txBody>
      </p:sp>
      <p:sp>
        <p:nvSpPr>
          <p:cNvPr id="131" name="Google Shape;131;p18"/>
          <p:cNvSpPr txBox="1"/>
          <p:nvPr/>
        </p:nvSpPr>
        <p:spPr>
          <a:xfrm>
            <a:off x="0" y="6198260"/>
            <a:ext cx="9144000"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06</a:t>
            </a:r>
            <a:endParaRPr b="1"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logo.png" id="136" name="Google Shape;136;p19"/>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137" name="Google Shape;137;p19"/>
          <p:cNvSpPr txBox="1"/>
          <p:nvPr/>
        </p:nvSpPr>
        <p:spPr>
          <a:xfrm>
            <a:off x="1215022" y="299979"/>
            <a:ext cx="7300328" cy="85725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IN" sz="3600" u="none" cap="none" strike="noStrike">
                <a:solidFill>
                  <a:schemeClr val="lt1"/>
                </a:solidFill>
                <a:latin typeface="Times New Roman"/>
                <a:ea typeface="Times New Roman"/>
                <a:cs typeface="Times New Roman"/>
                <a:sym typeface="Times New Roman"/>
              </a:rPr>
              <a:t>LITERATURE SURVEY</a:t>
            </a:r>
            <a:endParaRPr b="0" i="0" sz="3600" u="none" cap="none" strike="noStrike">
              <a:solidFill>
                <a:srgbClr val="000000"/>
              </a:solidFill>
              <a:latin typeface="Times New Roman"/>
              <a:ea typeface="Times New Roman"/>
              <a:cs typeface="Times New Roman"/>
              <a:sym typeface="Times New Roman"/>
            </a:endParaRPr>
          </a:p>
        </p:txBody>
      </p:sp>
      <p:sp>
        <p:nvSpPr>
          <p:cNvPr id="138" name="Google Shape;138;p19"/>
          <p:cNvSpPr txBox="1"/>
          <p:nvPr/>
        </p:nvSpPr>
        <p:spPr>
          <a:xfrm>
            <a:off x="0" y="6198260"/>
            <a:ext cx="9144000"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07</a:t>
            </a:r>
            <a:endParaRPr b="1" i="0" sz="1800" u="none" cap="none" strike="noStrike">
              <a:solidFill>
                <a:schemeClr val="lt1"/>
              </a:solidFill>
              <a:latin typeface="Times New Roman"/>
              <a:ea typeface="Times New Roman"/>
              <a:cs typeface="Times New Roman"/>
              <a:sym typeface="Times New Roman"/>
            </a:endParaRPr>
          </a:p>
        </p:txBody>
      </p:sp>
      <p:graphicFrame>
        <p:nvGraphicFramePr>
          <p:cNvPr id="139" name="Google Shape;139;p19"/>
          <p:cNvGraphicFramePr/>
          <p:nvPr/>
        </p:nvGraphicFramePr>
        <p:xfrm>
          <a:off x="230908" y="1503772"/>
          <a:ext cx="3000000" cy="3000000"/>
        </p:xfrm>
        <a:graphic>
          <a:graphicData uri="http://schemas.openxmlformats.org/drawingml/2006/table">
            <a:tbl>
              <a:tblPr>
                <a:noFill/>
                <a:tableStyleId>{EE30C721-DA08-4A76-A55D-044B3131F88B}</a:tableStyleId>
              </a:tblPr>
              <a:tblGrid>
                <a:gridCol w="1052950"/>
                <a:gridCol w="2198025"/>
                <a:gridCol w="1625475"/>
                <a:gridCol w="1625475"/>
                <a:gridCol w="1625475"/>
              </a:tblGrid>
              <a:tr h="1471325">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02275">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140" name="Google Shape;140;p19"/>
          <p:cNvGraphicFramePr/>
          <p:nvPr/>
        </p:nvGraphicFramePr>
        <p:xfrm>
          <a:off x="507997" y="1551710"/>
          <a:ext cx="3000000" cy="3000000"/>
        </p:xfrm>
        <a:graphic>
          <a:graphicData uri="http://schemas.openxmlformats.org/drawingml/2006/table">
            <a:tbl>
              <a:tblPr>
                <a:noFill/>
                <a:tableStyleId>{EE30C721-DA08-4A76-A55D-044B3131F88B}</a:tableStyleId>
              </a:tblPr>
              <a:tblGrid>
                <a:gridCol w="886700"/>
                <a:gridCol w="1810325"/>
                <a:gridCol w="1958100"/>
                <a:gridCol w="1597900"/>
                <a:gridCol w="2047075"/>
              </a:tblGrid>
              <a:tr h="1076550">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S No.</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Paper Title</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Methodology</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Drawbacks</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Proposed Methodology to Overcome</a:t>
                      </a:r>
                      <a:endParaRPr sz="2200">
                        <a:latin typeface="Times New Roman"/>
                        <a:ea typeface="Times New Roman"/>
                        <a:cs typeface="Times New Roman"/>
                        <a:sym typeface="Times New Roman"/>
                      </a:endParaRPr>
                    </a:p>
                  </a:txBody>
                  <a:tcPr marT="45725" marB="45725" marR="91450" marL="91450" anchor="ctr"/>
                </a:tc>
              </a:tr>
              <a:tr h="2872000">
                <a:tc>
                  <a:txBody>
                    <a:bodyPr/>
                    <a:lstStyle/>
                    <a:p>
                      <a:pPr indent="0" lvl="0" marL="0" marR="0" rtl="0" algn="ctr">
                        <a:spcBef>
                          <a:spcPts val="0"/>
                        </a:spcBef>
                        <a:spcAft>
                          <a:spcPts val="0"/>
                        </a:spcAft>
                        <a:buNone/>
                      </a:pPr>
                      <a:r>
                        <a:rPr lang="en-IN" sz="2200">
                          <a:latin typeface="Times New Roman"/>
                          <a:ea typeface="Times New Roman"/>
                          <a:cs typeface="Times New Roman"/>
                          <a:sym typeface="Times New Roman"/>
                        </a:rPr>
                        <a:t>1</a:t>
                      </a:r>
                      <a:endParaRPr sz="2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SafeTrack: Empowering Women's Security with GPS </a:t>
                      </a:r>
                      <a:endParaRPr sz="2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Uses GPS-based location tracking and messaging to improve women's safety by allowing the user's location to be tracked and shared during emergency situations. </a:t>
                      </a:r>
                      <a:endParaRPr sz="2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Focuses on emergency location tracking and messaging and does not provide comprehensive route selection.</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overcomes this limitation by providing safety-aware route selection that considers multiple factors such as safety level, traffic, pollution, weather.</a:t>
                      </a:r>
                      <a:endParaRPr sz="1800">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logo.png" id="145" name="Google Shape;145;p20"/>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146" name="Google Shape;146;p20"/>
          <p:cNvSpPr txBox="1"/>
          <p:nvPr/>
        </p:nvSpPr>
        <p:spPr>
          <a:xfrm>
            <a:off x="1215022" y="299979"/>
            <a:ext cx="7300328" cy="85725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IN" sz="3600" u="none" cap="none" strike="noStrike">
                <a:solidFill>
                  <a:schemeClr val="lt1"/>
                </a:solidFill>
                <a:latin typeface="Times New Roman"/>
                <a:ea typeface="Times New Roman"/>
                <a:cs typeface="Times New Roman"/>
                <a:sym typeface="Times New Roman"/>
              </a:rPr>
              <a:t>LITERATURE SURVEY</a:t>
            </a:r>
            <a:endParaRPr b="0" i="0" sz="3600" u="none" cap="none" strike="noStrike">
              <a:solidFill>
                <a:srgbClr val="000000"/>
              </a:solidFill>
              <a:latin typeface="Times New Roman"/>
              <a:ea typeface="Times New Roman"/>
              <a:cs typeface="Times New Roman"/>
              <a:sym typeface="Times New Roman"/>
            </a:endParaRPr>
          </a:p>
        </p:txBody>
      </p:sp>
      <p:sp>
        <p:nvSpPr>
          <p:cNvPr id="147" name="Google Shape;147;p20"/>
          <p:cNvSpPr txBox="1"/>
          <p:nvPr/>
        </p:nvSpPr>
        <p:spPr>
          <a:xfrm>
            <a:off x="0" y="6198260"/>
            <a:ext cx="9144000"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08</a:t>
            </a:r>
            <a:endParaRPr b="1" i="0" sz="1800" u="none" cap="none" strike="noStrike">
              <a:solidFill>
                <a:schemeClr val="lt1"/>
              </a:solidFill>
              <a:latin typeface="Times New Roman"/>
              <a:ea typeface="Times New Roman"/>
              <a:cs typeface="Times New Roman"/>
              <a:sym typeface="Times New Roman"/>
            </a:endParaRPr>
          </a:p>
        </p:txBody>
      </p:sp>
      <p:graphicFrame>
        <p:nvGraphicFramePr>
          <p:cNvPr id="148" name="Google Shape;148;p20"/>
          <p:cNvGraphicFramePr/>
          <p:nvPr/>
        </p:nvGraphicFramePr>
        <p:xfrm>
          <a:off x="230908" y="1503772"/>
          <a:ext cx="3000000" cy="3000000"/>
        </p:xfrm>
        <a:graphic>
          <a:graphicData uri="http://schemas.openxmlformats.org/drawingml/2006/table">
            <a:tbl>
              <a:tblPr>
                <a:noFill/>
                <a:tableStyleId>{EE30C721-DA08-4A76-A55D-044B3131F88B}</a:tableStyleId>
              </a:tblPr>
              <a:tblGrid>
                <a:gridCol w="1052950"/>
                <a:gridCol w="2198025"/>
                <a:gridCol w="1625475"/>
                <a:gridCol w="1625475"/>
                <a:gridCol w="1625475"/>
              </a:tblGrid>
              <a:tr h="1471325">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02275">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149" name="Google Shape;149;p20"/>
          <p:cNvGraphicFramePr/>
          <p:nvPr/>
        </p:nvGraphicFramePr>
        <p:xfrm>
          <a:off x="507997" y="1551710"/>
          <a:ext cx="3000000" cy="3000000"/>
        </p:xfrm>
        <a:graphic>
          <a:graphicData uri="http://schemas.openxmlformats.org/drawingml/2006/table">
            <a:tbl>
              <a:tblPr>
                <a:noFill/>
                <a:tableStyleId>{EE30C721-DA08-4A76-A55D-044B3131F88B}</a:tableStyleId>
              </a:tblPr>
              <a:tblGrid>
                <a:gridCol w="886700"/>
                <a:gridCol w="1810325"/>
                <a:gridCol w="1958100"/>
                <a:gridCol w="1597900"/>
                <a:gridCol w="2047075"/>
              </a:tblGrid>
              <a:tr h="1076550">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S No.</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Paper Title</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Methodology</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Drawbacks</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Proposed Methodology to Overcome</a:t>
                      </a:r>
                      <a:endParaRPr sz="2200">
                        <a:latin typeface="Times New Roman"/>
                        <a:ea typeface="Times New Roman"/>
                        <a:cs typeface="Times New Roman"/>
                        <a:sym typeface="Times New Roman"/>
                      </a:endParaRPr>
                    </a:p>
                  </a:txBody>
                  <a:tcPr marT="45725" marB="45725" marR="91450" marL="91450" anchor="ctr"/>
                </a:tc>
              </a:tr>
              <a:tr h="2872000">
                <a:tc>
                  <a:txBody>
                    <a:bodyPr/>
                    <a:lstStyle/>
                    <a:p>
                      <a:pPr indent="0" lvl="0" marL="0" marR="0" rtl="0" algn="ctr">
                        <a:spcBef>
                          <a:spcPts val="0"/>
                        </a:spcBef>
                        <a:spcAft>
                          <a:spcPts val="0"/>
                        </a:spcAft>
                        <a:buNone/>
                      </a:pPr>
                      <a:r>
                        <a:rPr lang="en-IN" sz="2200">
                          <a:latin typeface="Times New Roman"/>
                          <a:ea typeface="Times New Roman"/>
                          <a:cs typeface="Times New Roman"/>
                          <a:sym typeface="Times New Roman"/>
                        </a:rPr>
                        <a:t>2</a:t>
                      </a:r>
                      <a:endParaRPr sz="2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SafeRoutes: Charting a Secure Path – Holistic Women's Safety </a:t>
                      </a:r>
                      <a:endParaRPr sz="2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Uses GPS and mapping services along with machine-learning techniques such as K-Means clustering and Gaussian Mixture Models </a:t>
                      </a:r>
                      <a:endParaRPr sz="2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Depends mainly on the availability of crime and public-safety data and focuses primarily on women's safety</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Extends this approach by combining safety information with real-time traffic, pollution, weather, distance, and travel time to dynamically calculate route scores.</a:t>
                      </a:r>
                      <a:endParaRPr sz="1800">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descr="logo.png" id="154" name="Google Shape;154;p21"/>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155" name="Google Shape;155;p21"/>
          <p:cNvSpPr txBox="1"/>
          <p:nvPr/>
        </p:nvSpPr>
        <p:spPr>
          <a:xfrm>
            <a:off x="1215022" y="299979"/>
            <a:ext cx="7300328" cy="85725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IN" sz="3600" u="none" cap="none" strike="noStrike">
                <a:solidFill>
                  <a:schemeClr val="lt1"/>
                </a:solidFill>
                <a:latin typeface="Times New Roman"/>
                <a:ea typeface="Times New Roman"/>
                <a:cs typeface="Times New Roman"/>
                <a:sym typeface="Times New Roman"/>
              </a:rPr>
              <a:t>LITERATURE SURVEY</a:t>
            </a:r>
            <a:endParaRPr b="0" i="0" sz="3600" u="none" cap="none" strike="noStrike">
              <a:solidFill>
                <a:srgbClr val="000000"/>
              </a:solidFill>
              <a:latin typeface="Times New Roman"/>
              <a:ea typeface="Times New Roman"/>
              <a:cs typeface="Times New Roman"/>
              <a:sym typeface="Times New Roman"/>
            </a:endParaRPr>
          </a:p>
        </p:txBody>
      </p:sp>
      <p:sp>
        <p:nvSpPr>
          <p:cNvPr id="156" name="Google Shape;156;p21"/>
          <p:cNvSpPr txBox="1"/>
          <p:nvPr/>
        </p:nvSpPr>
        <p:spPr>
          <a:xfrm>
            <a:off x="0" y="6198260"/>
            <a:ext cx="9144000"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09</a:t>
            </a:r>
            <a:endParaRPr b="1" i="0" sz="1800" u="none" cap="none" strike="noStrike">
              <a:solidFill>
                <a:schemeClr val="lt1"/>
              </a:solidFill>
              <a:latin typeface="Times New Roman"/>
              <a:ea typeface="Times New Roman"/>
              <a:cs typeface="Times New Roman"/>
              <a:sym typeface="Times New Roman"/>
            </a:endParaRPr>
          </a:p>
        </p:txBody>
      </p:sp>
      <p:graphicFrame>
        <p:nvGraphicFramePr>
          <p:cNvPr id="157" name="Google Shape;157;p21"/>
          <p:cNvGraphicFramePr/>
          <p:nvPr/>
        </p:nvGraphicFramePr>
        <p:xfrm>
          <a:off x="230908" y="1503772"/>
          <a:ext cx="3000000" cy="3000000"/>
        </p:xfrm>
        <a:graphic>
          <a:graphicData uri="http://schemas.openxmlformats.org/drawingml/2006/table">
            <a:tbl>
              <a:tblPr>
                <a:noFill/>
                <a:tableStyleId>{EE30C721-DA08-4A76-A55D-044B3131F88B}</a:tableStyleId>
              </a:tblPr>
              <a:tblGrid>
                <a:gridCol w="1052950"/>
                <a:gridCol w="2198025"/>
                <a:gridCol w="1625475"/>
                <a:gridCol w="1625475"/>
                <a:gridCol w="1625475"/>
              </a:tblGrid>
              <a:tr h="1471325">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02275">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158" name="Google Shape;158;p21"/>
          <p:cNvGraphicFramePr/>
          <p:nvPr/>
        </p:nvGraphicFramePr>
        <p:xfrm>
          <a:off x="507997" y="1551710"/>
          <a:ext cx="3000000" cy="3000000"/>
        </p:xfrm>
        <a:graphic>
          <a:graphicData uri="http://schemas.openxmlformats.org/drawingml/2006/table">
            <a:tbl>
              <a:tblPr>
                <a:noFill/>
                <a:tableStyleId>{EE30C721-DA08-4A76-A55D-044B3131F88B}</a:tableStyleId>
              </a:tblPr>
              <a:tblGrid>
                <a:gridCol w="886700"/>
                <a:gridCol w="1810325"/>
                <a:gridCol w="1958100"/>
                <a:gridCol w="1597900"/>
                <a:gridCol w="2047075"/>
              </a:tblGrid>
              <a:tr h="1076550">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S No.</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Paper Title</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Methodology</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Drawbacks</a:t>
                      </a:r>
                      <a:endParaRPr sz="2200">
                        <a:latin typeface="Times New Roman"/>
                        <a:ea typeface="Times New Roman"/>
                        <a:cs typeface="Times New Roman"/>
                        <a:sym typeface="Times New Roman"/>
                      </a:endParaRPr>
                    </a:p>
                  </a:txBody>
                  <a:tcPr marT="45725" marB="45725" marR="91450" marL="91450" anchor="ctr"/>
                </a:tc>
                <a:tc>
                  <a:txBody>
                    <a:bodyPr/>
                    <a:lstStyle/>
                    <a:p>
                      <a:pPr indent="0" lvl="0" marL="0" marR="0" rtl="0" algn="l">
                        <a:spcBef>
                          <a:spcPts val="0"/>
                        </a:spcBef>
                        <a:spcAft>
                          <a:spcPts val="0"/>
                        </a:spcAft>
                        <a:buNone/>
                      </a:pPr>
                      <a:r>
                        <a:rPr b="1" lang="en-IN" sz="2200">
                          <a:latin typeface="Times New Roman"/>
                          <a:ea typeface="Times New Roman"/>
                          <a:cs typeface="Times New Roman"/>
                          <a:sym typeface="Times New Roman"/>
                        </a:rPr>
                        <a:t>Proposed Methodology to Overcome</a:t>
                      </a:r>
                      <a:endParaRPr sz="2200">
                        <a:latin typeface="Times New Roman"/>
                        <a:ea typeface="Times New Roman"/>
                        <a:cs typeface="Times New Roman"/>
                        <a:sym typeface="Times New Roman"/>
                      </a:endParaRPr>
                    </a:p>
                  </a:txBody>
                  <a:tcPr marT="45725" marB="45725" marR="91450" marL="91450" anchor="ctr"/>
                </a:tc>
              </a:tr>
              <a:tr h="2872000">
                <a:tc>
                  <a:txBody>
                    <a:bodyPr/>
                    <a:lstStyle/>
                    <a:p>
                      <a:pPr indent="0" lvl="0" marL="0" marR="0" rtl="0" algn="ctr">
                        <a:spcBef>
                          <a:spcPts val="0"/>
                        </a:spcBef>
                        <a:spcAft>
                          <a:spcPts val="0"/>
                        </a:spcAft>
                        <a:buNone/>
                      </a:pPr>
                      <a:r>
                        <a:rPr lang="en-IN" sz="2200">
                          <a:latin typeface="Times New Roman"/>
                          <a:ea typeface="Times New Roman"/>
                          <a:cs typeface="Times New Roman"/>
                          <a:sym typeface="Times New Roman"/>
                        </a:rPr>
                        <a:t>3</a:t>
                      </a:r>
                      <a:endParaRPr sz="22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AI-Driven Route Optimization for Sustainable Travel </a:t>
                      </a:r>
                      <a:endParaRPr sz="2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The sustainable route optimization approach uses route optimization algorithms such as Dijkstra's algorithm and Genetic Algorithm.</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Mainly concentrates on sustainable tourism and carbon- emission reduction and does not comprehensively consider personal safety</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Overcomes these limitations by using a multi-criteria route optimization approach that combines safety, traffic, pollution, weather, distance, travel time.</a:t>
                      </a:r>
                      <a:endParaRPr sz="1800">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nvSpPr>
        <p:spPr>
          <a:xfrm>
            <a:off x="286325" y="1269275"/>
            <a:ext cx="8676300" cy="3954900"/>
          </a:xfrm>
          <a:prstGeom prst="rect">
            <a:avLst/>
          </a:prstGeom>
          <a:noFill/>
          <a:ln>
            <a:noFill/>
          </a:ln>
        </p:spPr>
        <p:txBody>
          <a:bodyPr anchorCtr="0" anchor="t" bIns="45700" lIns="91425" spcFirstLastPara="1" rIns="91425" wrap="square" tIns="45700">
            <a:spAutoFit/>
          </a:bodyPr>
          <a:lstStyle/>
          <a:p>
            <a:pPr indent="-342900" lvl="0" marL="457200" rtl="0" algn="l">
              <a:lnSpc>
                <a:spcPct val="115000"/>
              </a:lnSpc>
              <a:spcBef>
                <a:spcPts val="9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Existing navigation systems mainly calculate routes based on </a:t>
            </a:r>
            <a:r>
              <a:rPr b="1" lang="en-IN" sz="1800">
                <a:solidFill>
                  <a:schemeClr val="dk1"/>
                </a:solidFill>
                <a:latin typeface="Times New Roman"/>
                <a:ea typeface="Times New Roman"/>
                <a:cs typeface="Times New Roman"/>
                <a:sym typeface="Times New Roman"/>
              </a:rPr>
              <a:t>distance, estimated travel time, and road-network information</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9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They are effective in finding </a:t>
            </a:r>
            <a:r>
              <a:rPr b="1" lang="en-IN" sz="1800">
                <a:solidFill>
                  <a:schemeClr val="dk1"/>
                </a:solidFill>
                <a:latin typeface="Times New Roman"/>
                <a:ea typeface="Times New Roman"/>
                <a:cs typeface="Times New Roman"/>
                <a:sym typeface="Times New Roman"/>
              </a:rPr>
              <a:t>shorter and faster routes</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9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They provide </a:t>
            </a:r>
            <a:r>
              <a:rPr b="1" lang="en-IN" sz="1800">
                <a:solidFill>
                  <a:schemeClr val="dk1"/>
                </a:solidFill>
                <a:latin typeface="Times New Roman"/>
                <a:ea typeface="Times New Roman"/>
                <a:cs typeface="Times New Roman"/>
                <a:sym typeface="Times New Roman"/>
              </a:rPr>
              <a:t>limited consideration of contextual safety conditions</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9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They generally do not consider whether a route passes through </a:t>
            </a:r>
            <a:r>
              <a:rPr b="1" lang="en-IN" sz="1800">
                <a:solidFill>
                  <a:schemeClr val="dk1"/>
                </a:solidFill>
                <a:latin typeface="Times New Roman"/>
                <a:ea typeface="Times New Roman"/>
                <a:cs typeface="Times New Roman"/>
                <a:sym typeface="Times New Roman"/>
              </a:rPr>
              <a:t>poorly lit or isolated areas</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9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They may not adequately account for </a:t>
            </a:r>
            <a:r>
              <a:rPr b="1" lang="en-IN" sz="1800">
                <a:solidFill>
                  <a:schemeClr val="dk1"/>
                </a:solidFill>
                <a:latin typeface="Times New Roman"/>
                <a:ea typeface="Times New Roman"/>
                <a:cs typeface="Times New Roman"/>
                <a:sym typeface="Times New Roman"/>
              </a:rPr>
              <a:t>traffic congestion and road closures</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9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Pollution levels and environmental conditions</a:t>
            </a:r>
            <a:r>
              <a:rPr lang="en-IN" sz="1800">
                <a:solidFill>
                  <a:schemeClr val="dk1"/>
                </a:solidFill>
                <a:latin typeface="Times New Roman"/>
                <a:ea typeface="Times New Roman"/>
                <a:cs typeface="Times New Roman"/>
                <a:sym typeface="Times New Roman"/>
              </a:rPr>
              <a:t> are often not included in route selection.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9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A route with shorter travel time may still have </a:t>
            </a:r>
            <a:r>
              <a:rPr b="1" lang="en-IN" sz="1800">
                <a:solidFill>
                  <a:schemeClr val="dk1"/>
                </a:solidFill>
                <a:latin typeface="Times New Roman"/>
                <a:ea typeface="Times New Roman"/>
                <a:cs typeface="Times New Roman"/>
                <a:sym typeface="Times New Roman"/>
              </a:rPr>
              <a:t>higher safety or environmental risks</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9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Traditional navigation systems do not provide a </a:t>
            </a:r>
            <a:r>
              <a:rPr b="1" lang="en-IN" sz="1800">
                <a:solidFill>
                  <a:schemeClr val="dk1"/>
                </a:solidFill>
                <a:latin typeface="Times New Roman"/>
                <a:ea typeface="Times New Roman"/>
                <a:cs typeface="Times New Roman"/>
                <a:sym typeface="Times New Roman"/>
              </a:rPr>
              <a:t>unified risk-based comparison of alternative routes</a:t>
            </a:r>
            <a:r>
              <a:rPr lang="en-IN" sz="1800">
                <a:solidFill>
                  <a:schemeClr val="dk1"/>
                </a:solidFill>
                <a:latin typeface="Times New Roman"/>
                <a:ea typeface="Times New Roman"/>
                <a:cs typeface="Times New Roman"/>
                <a:sym typeface="Times New Roman"/>
              </a:rPr>
              <a:t>.</a:t>
            </a:r>
            <a:endParaRPr sz="2500">
              <a:solidFill>
                <a:schemeClr val="dk1"/>
              </a:solidFill>
              <a:latin typeface="Times New Roman"/>
              <a:ea typeface="Times New Roman"/>
              <a:cs typeface="Times New Roman"/>
              <a:sym typeface="Times New Roman"/>
            </a:endParaRPr>
          </a:p>
        </p:txBody>
      </p:sp>
      <p:pic>
        <p:nvPicPr>
          <p:cNvPr descr="logo.png" id="164" name="Google Shape;164;p22"/>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165" name="Google Shape;165;p22"/>
          <p:cNvSpPr txBox="1"/>
          <p:nvPr/>
        </p:nvSpPr>
        <p:spPr>
          <a:xfrm>
            <a:off x="1215022" y="299979"/>
            <a:ext cx="7300328" cy="85725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IN" sz="3600" u="none" cap="none" strike="noStrike">
                <a:solidFill>
                  <a:schemeClr val="lt1"/>
                </a:solidFill>
                <a:latin typeface="Times New Roman"/>
                <a:ea typeface="Times New Roman"/>
                <a:cs typeface="Times New Roman"/>
                <a:sym typeface="Times New Roman"/>
              </a:rPr>
              <a:t>EXISTING SYSTEM</a:t>
            </a:r>
            <a:endParaRPr b="0" i="0" sz="3600" u="none" cap="none" strike="noStrike">
              <a:solidFill>
                <a:srgbClr val="000000"/>
              </a:solidFill>
              <a:latin typeface="Times New Roman"/>
              <a:ea typeface="Times New Roman"/>
              <a:cs typeface="Times New Roman"/>
              <a:sym typeface="Times New Roman"/>
            </a:endParaRPr>
          </a:p>
        </p:txBody>
      </p:sp>
      <p:sp>
        <p:nvSpPr>
          <p:cNvPr id="166" name="Google Shape;166;p22"/>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10</a:t>
            </a:r>
            <a:endParaRPr b="1"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logo.png" id="171" name="Google Shape;171;p23"/>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172" name="Google Shape;172;p23"/>
          <p:cNvSpPr txBox="1"/>
          <p:nvPr/>
        </p:nvSpPr>
        <p:spPr>
          <a:xfrm>
            <a:off x="1215022" y="299978"/>
            <a:ext cx="7300200" cy="10155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IN" sz="3600" u="none" cap="none" strike="noStrike">
                <a:solidFill>
                  <a:schemeClr val="lt1"/>
                </a:solidFill>
                <a:latin typeface="Times New Roman"/>
                <a:ea typeface="Times New Roman"/>
                <a:cs typeface="Times New Roman"/>
                <a:sym typeface="Times New Roman"/>
              </a:rPr>
              <a:t>ADVANTAGES  OF          EXISTING SYSTEM</a:t>
            </a:r>
            <a:endParaRPr b="0" i="0" sz="3600" u="none" cap="none" strike="noStrike">
              <a:solidFill>
                <a:srgbClr val="000000"/>
              </a:solidFill>
              <a:latin typeface="Times New Roman"/>
              <a:ea typeface="Times New Roman"/>
              <a:cs typeface="Times New Roman"/>
              <a:sym typeface="Times New Roman"/>
            </a:endParaRPr>
          </a:p>
        </p:txBody>
      </p:sp>
      <p:sp>
        <p:nvSpPr>
          <p:cNvPr id="173" name="Google Shape;173;p23"/>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11</a:t>
            </a:r>
            <a:endParaRPr b="1" i="0" sz="1800" u="none" cap="none" strike="noStrike">
              <a:solidFill>
                <a:schemeClr val="lt1"/>
              </a:solidFill>
              <a:latin typeface="Times New Roman"/>
              <a:ea typeface="Times New Roman"/>
              <a:cs typeface="Times New Roman"/>
              <a:sym typeface="Times New Roman"/>
            </a:endParaRPr>
          </a:p>
        </p:txBody>
      </p:sp>
      <p:sp>
        <p:nvSpPr>
          <p:cNvPr id="174" name="Google Shape;174;p23"/>
          <p:cNvSpPr txBox="1"/>
          <p:nvPr/>
        </p:nvSpPr>
        <p:spPr>
          <a:xfrm>
            <a:off x="531845" y="1720840"/>
            <a:ext cx="8061600" cy="3417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1. Women’s Safety Analysis</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800"/>
              <a:buFont typeface="Times New Roman"/>
              <a:buNone/>
            </a:pPr>
            <a:r>
              <a:rPr lang="en-IN" sz="1800">
                <a:solidFill>
                  <a:schemeClr val="dk1"/>
                </a:solidFill>
                <a:latin typeface="Times New Roman"/>
                <a:ea typeface="Times New Roman"/>
                <a:cs typeface="Times New Roman"/>
                <a:sym typeface="Times New Roman"/>
              </a:rPr>
              <a:t>The system analyzes factors such as crime rates, police presence, infrastructure, and socio-economic indicators to classify regions according to women’s safety. </a:t>
            </a:r>
            <a:br>
              <a:rPr b="1" lang="en-IN" sz="2500">
                <a:solidFill>
                  <a:schemeClr val="dk1"/>
                </a:solidFill>
                <a:latin typeface="Times New Roman"/>
                <a:ea typeface="Times New Roman"/>
                <a:cs typeface="Times New Roman"/>
                <a:sym typeface="Times New Roman"/>
              </a:rPr>
            </a:br>
            <a:r>
              <a:rPr b="1" lang="en-IN" sz="1800">
                <a:solidFill>
                  <a:schemeClr val="dk1"/>
                </a:solidFill>
                <a:latin typeface="Times New Roman"/>
                <a:ea typeface="Times New Roman"/>
                <a:cs typeface="Times New Roman"/>
                <a:sym typeface="Times New Roman"/>
              </a:rPr>
              <a:t>2. Safe Route Recommendation</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The system uses Maps APIs and cab-service integration to recommend safer paths for users during travel.</a:t>
            </a:r>
            <a:br>
              <a:rPr lang="en-IN" sz="1800">
                <a:solidFill>
                  <a:schemeClr val="dk1"/>
                </a:solidFill>
                <a:latin typeface="Times New Roman"/>
                <a:ea typeface="Times New Roman"/>
                <a:cs typeface="Times New Roman"/>
                <a:sym typeface="Times New Roman"/>
              </a:rPr>
            </a:br>
            <a:r>
              <a:rPr b="1" lang="en-IN" sz="1800">
                <a:solidFill>
                  <a:schemeClr val="dk1"/>
                </a:solidFill>
                <a:latin typeface="Times New Roman"/>
                <a:ea typeface="Times New Roman"/>
                <a:cs typeface="Times New Roman"/>
                <a:sym typeface="Times New Roman"/>
              </a:rPr>
              <a:t>3. Real-Time GPS Monitoring</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The system continuously monitors the vehicle’s GPS location and checks whether it remains within the predefined safe route or safety buffer.</a:t>
            </a:r>
            <a:br>
              <a:rPr lang="en-IN" sz="1800">
                <a:solidFill>
                  <a:schemeClr val="dk1"/>
                </a:solidFill>
                <a:latin typeface="Times New Roman"/>
                <a:ea typeface="Times New Roman"/>
                <a:cs typeface="Times New Roman"/>
                <a:sym typeface="Times New Roman"/>
              </a:rPr>
            </a:br>
            <a:r>
              <a:rPr b="1" lang="en-IN" sz="1800">
                <a:solidFill>
                  <a:schemeClr val="dk1"/>
                </a:solidFill>
                <a:latin typeface="Times New Roman"/>
                <a:ea typeface="Times New Roman"/>
                <a:cs typeface="Times New Roman"/>
                <a:sym typeface="Times New Roman"/>
              </a:rPr>
              <a:t>4. Unsafe Area Alerts</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The system generates immediate alerts when a vehicle deviates from the recommended route and enters a potentially unsafe area.</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descr="logo.png" id="179" name="Google Shape;179;p24"/>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180" name="Google Shape;180;p24"/>
          <p:cNvSpPr txBox="1"/>
          <p:nvPr/>
        </p:nvSpPr>
        <p:spPr>
          <a:xfrm>
            <a:off x="1215022" y="299978"/>
            <a:ext cx="7300328" cy="1015637"/>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IN" sz="3600" u="none" cap="none" strike="noStrike">
                <a:solidFill>
                  <a:schemeClr val="lt1"/>
                </a:solidFill>
                <a:latin typeface="Times New Roman"/>
                <a:ea typeface="Times New Roman"/>
                <a:cs typeface="Times New Roman"/>
                <a:sym typeface="Times New Roman"/>
              </a:rPr>
              <a:t>ADVANTAGES  OF          EXISTING SYSTEM</a:t>
            </a:r>
            <a:endParaRPr b="0" i="0" sz="3600" u="none" cap="none" strike="noStrike">
              <a:solidFill>
                <a:srgbClr val="000000"/>
              </a:solidFill>
              <a:latin typeface="Times New Roman"/>
              <a:ea typeface="Times New Roman"/>
              <a:cs typeface="Times New Roman"/>
              <a:sym typeface="Times New Roman"/>
            </a:endParaRPr>
          </a:p>
        </p:txBody>
      </p:sp>
      <p:sp>
        <p:nvSpPr>
          <p:cNvPr id="181" name="Google Shape;181;p24"/>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1</a:t>
            </a:r>
            <a:r>
              <a:rPr b="1" i="0" lang="en-IN" sz="1800" u="none" cap="none" strike="noStrike">
                <a:solidFill>
                  <a:schemeClr val="lt1"/>
                </a:solidFill>
                <a:latin typeface="Times New Roman"/>
                <a:ea typeface="Times New Roman"/>
                <a:cs typeface="Times New Roman"/>
                <a:sym typeface="Times New Roman"/>
              </a:rPr>
              <a:t>2</a:t>
            </a:r>
            <a:endParaRPr b="1" i="0" sz="1800" u="none" cap="none" strike="noStrike">
              <a:solidFill>
                <a:schemeClr val="lt1"/>
              </a:solidFill>
              <a:latin typeface="Times New Roman"/>
              <a:ea typeface="Times New Roman"/>
              <a:cs typeface="Times New Roman"/>
              <a:sym typeface="Times New Roman"/>
            </a:endParaRPr>
          </a:p>
        </p:txBody>
      </p:sp>
      <p:sp>
        <p:nvSpPr>
          <p:cNvPr id="182" name="Google Shape;182;p24"/>
          <p:cNvSpPr txBox="1"/>
          <p:nvPr/>
        </p:nvSpPr>
        <p:spPr>
          <a:xfrm>
            <a:off x="531845" y="1720840"/>
            <a:ext cx="8061649"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1800"/>
              <a:buFont typeface="Times New Roman"/>
              <a:buNone/>
            </a:pPr>
            <a:r>
              <a:rPr b="1" i="0" lang="en-IN" sz="18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p:txBody>
      </p:sp>
      <p:sp>
        <p:nvSpPr>
          <p:cNvPr id="183" name="Google Shape;183;p24"/>
          <p:cNvSpPr txBox="1"/>
          <p:nvPr/>
        </p:nvSpPr>
        <p:spPr>
          <a:xfrm>
            <a:off x="453701" y="1720840"/>
            <a:ext cx="8061600" cy="3390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SzPts val="1100"/>
              <a:buNone/>
            </a:pPr>
            <a:r>
              <a:rPr b="1" lang="en-IN" sz="1800">
                <a:solidFill>
                  <a:schemeClr val="dk1"/>
                </a:solidFill>
                <a:latin typeface="Times New Roman"/>
                <a:ea typeface="Times New Roman"/>
                <a:cs typeface="Times New Roman"/>
                <a:sym typeface="Times New Roman"/>
              </a:rPr>
              <a:t>5. Machine Learning-Based Safety Classification</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The system uses K-Means Clustering and Gaussian Mixture Models to classify regions into different safety clusters.</a:t>
            </a:r>
            <a:br>
              <a:rPr lang="en-IN" sz="1800">
                <a:solidFill>
                  <a:schemeClr val="dk1"/>
                </a:solidFill>
                <a:latin typeface="Times New Roman"/>
                <a:ea typeface="Times New Roman"/>
                <a:cs typeface="Times New Roman"/>
                <a:sym typeface="Times New Roman"/>
              </a:rPr>
            </a:br>
            <a:r>
              <a:rPr b="1" lang="en-IN" sz="1800">
                <a:solidFill>
                  <a:schemeClr val="dk1"/>
                </a:solidFill>
                <a:latin typeface="Times New Roman"/>
                <a:ea typeface="Times New Roman"/>
                <a:cs typeface="Times New Roman"/>
                <a:sym typeface="Times New Roman"/>
              </a:rPr>
              <a:t>6. Safety Heatmap Generation</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The system generates safety heatmaps that provide a visual representation of different safety levels across regions.</a:t>
            </a:r>
            <a:br>
              <a:rPr lang="en-IN" sz="1800">
                <a:solidFill>
                  <a:schemeClr val="dk1"/>
                </a:solidFill>
                <a:latin typeface="Times New Roman"/>
                <a:ea typeface="Times New Roman"/>
                <a:cs typeface="Times New Roman"/>
                <a:sym typeface="Times New Roman"/>
              </a:rPr>
            </a:br>
            <a:r>
              <a:rPr b="1" lang="en-IN" sz="1800">
                <a:solidFill>
                  <a:schemeClr val="dk1"/>
                </a:solidFill>
                <a:latin typeface="Times New Roman"/>
                <a:ea typeface="Times New Roman"/>
                <a:cs typeface="Times New Roman"/>
                <a:sym typeface="Times New Roman"/>
              </a:rPr>
              <a:t>7. Real-Time Rerouting</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The system can calculate a new safe route when a vehicle cannot return to the recommended path because of road conditions or unsafe-area deviations.</a:t>
            </a:r>
            <a:endParaRPr b="1" sz="1800">
              <a:solidFill>
                <a:schemeClr val="dk1"/>
              </a:solidFill>
              <a:latin typeface="Times New Roman"/>
              <a:ea typeface="Times New Roman"/>
              <a:cs typeface="Times New Roman"/>
              <a:sym typeface="Times New Roman"/>
            </a:endParaRPr>
          </a:p>
          <a:p>
            <a:pPr indent="0" lvl="0" marL="0" marR="0" rtl="0" algn="just">
              <a:spcBef>
                <a:spcPts val="1200"/>
              </a:spcBef>
              <a:spcAft>
                <a:spcPts val="0"/>
              </a:spcAft>
              <a:buClr>
                <a:schemeClr val="dk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logo.png" id="188" name="Google Shape;188;p25"/>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189" name="Google Shape;189;p25"/>
          <p:cNvSpPr txBox="1"/>
          <p:nvPr/>
        </p:nvSpPr>
        <p:spPr>
          <a:xfrm>
            <a:off x="1215022" y="299978"/>
            <a:ext cx="7300200" cy="10155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DIS</a:t>
            </a:r>
            <a:r>
              <a:rPr b="1" i="0" lang="en-IN" sz="3600" u="none" cap="none" strike="noStrike">
                <a:solidFill>
                  <a:schemeClr val="lt1"/>
                </a:solidFill>
                <a:latin typeface="Times New Roman"/>
                <a:ea typeface="Times New Roman"/>
                <a:cs typeface="Times New Roman"/>
                <a:sym typeface="Times New Roman"/>
              </a:rPr>
              <a:t>ADVANTAGES  OF          EXISTING SYSTEM</a:t>
            </a:r>
            <a:endParaRPr b="0" i="0" sz="3600" u="none" cap="none" strike="noStrike">
              <a:solidFill>
                <a:srgbClr val="000000"/>
              </a:solidFill>
              <a:latin typeface="Times New Roman"/>
              <a:ea typeface="Times New Roman"/>
              <a:cs typeface="Times New Roman"/>
              <a:sym typeface="Times New Roman"/>
            </a:endParaRPr>
          </a:p>
        </p:txBody>
      </p:sp>
      <p:sp>
        <p:nvSpPr>
          <p:cNvPr id="190" name="Google Shape;190;p25"/>
          <p:cNvSpPr txBox="1"/>
          <p:nvPr/>
        </p:nvSpPr>
        <p:spPr>
          <a:xfrm>
            <a:off x="0" y="6179127"/>
            <a:ext cx="9171600" cy="6789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1</a:t>
            </a:r>
            <a:r>
              <a:rPr b="1" lang="en-IN" sz="1800">
                <a:solidFill>
                  <a:schemeClr val="lt1"/>
                </a:solidFill>
                <a:latin typeface="Times New Roman"/>
                <a:ea typeface="Times New Roman"/>
                <a:cs typeface="Times New Roman"/>
                <a:sym typeface="Times New Roman"/>
              </a:rPr>
              <a:t>3</a:t>
            </a:r>
            <a:endParaRPr b="1" i="0" sz="1800" u="none" cap="none" strike="noStrike">
              <a:solidFill>
                <a:schemeClr val="lt1"/>
              </a:solidFill>
              <a:latin typeface="Times New Roman"/>
              <a:ea typeface="Times New Roman"/>
              <a:cs typeface="Times New Roman"/>
              <a:sym typeface="Times New Roman"/>
            </a:endParaRPr>
          </a:p>
        </p:txBody>
      </p:sp>
      <p:sp>
        <p:nvSpPr>
          <p:cNvPr id="191" name="Google Shape;191;p25"/>
          <p:cNvSpPr txBox="1"/>
          <p:nvPr/>
        </p:nvSpPr>
        <p:spPr>
          <a:xfrm>
            <a:off x="531845" y="1720840"/>
            <a:ext cx="8061600" cy="3693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1800"/>
              <a:buFont typeface="Times New Roman"/>
              <a:buNone/>
            </a:pPr>
            <a:r>
              <a:rPr b="1" i="0" lang="en-IN" sz="18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p:txBody>
      </p:sp>
      <p:sp>
        <p:nvSpPr>
          <p:cNvPr id="192" name="Google Shape;192;p25"/>
          <p:cNvSpPr txBox="1"/>
          <p:nvPr/>
        </p:nvSpPr>
        <p:spPr>
          <a:xfrm>
            <a:off x="453700" y="1598000"/>
            <a:ext cx="8061600" cy="4192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1. Dependence on Data Quality</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The effectiveness of the safety model depends heavily on the volume, quality, and timeliness of the data collected from public and government sources.</a:t>
            </a:r>
            <a:br>
              <a:rPr lang="en-IN" sz="1800">
                <a:solidFill>
                  <a:schemeClr val="dk1"/>
                </a:solidFill>
                <a:latin typeface="Times New Roman"/>
                <a:ea typeface="Times New Roman"/>
                <a:cs typeface="Times New Roman"/>
                <a:sym typeface="Times New Roman"/>
              </a:rPr>
            </a:br>
            <a:r>
              <a:rPr b="1" lang="en-IN" sz="1800">
                <a:solidFill>
                  <a:schemeClr val="dk1"/>
                </a:solidFill>
                <a:latin typeface="Times New Roman"/>
                <a:ea typeface="Times New Roman"/>
                <a:cs typeface="Times New Roman"/>
                <a:sym typeface="Times New Roman"/>
              </a:rPr>
              <a:t>2. Data Bias</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Crime and socio-economic datasets may contain biases because some communities may be underrepresented or have under-reported incidents.</a:t>
            </a:r>
            <a:br>
              <a:rPr lang="en-IN" sz="1800">
                <a:solidFill>
                  <a:schemeClr val="dk1"/>
                </a:solidFill>
                <a:latin typeface="Times New Roman"/>
                <a:ea typeface="Times New Roman"/>
                <a:cs typeface="Times New Roman"/>
                <a:sym typeface="Times New Roman"/>
              </a:rPr>
            </a:br>
            <a:r>
              <a:rPr b="1" lang="en-IN" sz="1800">
                <a:solidFill>
                  <a:schemeClr val="dk1"/>
                </a:solidFill>
                <a:latin typeface="Times New Roman"/>
                <a:ea typeface="Times New Roman"/>
                <a:cs typeface="Times New Roman"/>
                <a:sym typeface="Times New Roman"/>
              </a:rPr>
              <a:t>3. Limited Representation of Vulnerable Groups</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The system may lack sufficient data about vulnerable populations, which can reduce the inclusiveness of its safety model.</a:t>
            </a:r>
            <a:br>
              <a:rPr lang="en-IN" sz="1800">
                <a:solidFill>
                  <a:schemeClr val="dk1"/>
                </a:solidFill>
                <a:latin typeface="Times New Roman"/>
                <a:ea typeface="Times New Roman"/>
                <a:cs typeface="Times New Roman"/>
                <a:sym typeface="Times New Roman"/>
              </a:rPr>
            </a:br>
            <a:r>
              <a:rPr b="1" lang="en-IN" sz="1800">
                <a:solidFill>
                  <a:schemeClr val="dk1"/>
                </a:solidFill>
                <a:latin typeface="Times New Roman"/>
                <a:ea typeface="Times New Roman"/>
                <a:cs typeface="Times New Roman"/>
                <a:sym typeface="Times New Roman"/>
              </a:rPr>
              <a:t>4</a:t>
            </a:r>
            <a:r>
              <a:rPr b="1" lang="en-IN" sz="1800">
                <a:solidFill>
                  <a:schemeClr val="dk1"/>
                </a:solidFill>
                <a:latin typeface="Times New Roman"/>
                <a:ea typeface="Times New Roman"/>
                <a:cs typeface="Times New Roman"/>
                <a:sym typeface="Times New Roman"/>
              </a:rPr>
              <a:t>. Limited Environmental Factors</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The paper primarily focuses on safety-related parameters such as crime, police presence, infrastructure, demographics, and forest cover rather than combining safety with factors such as real-time pollution and weather conditions.</a:t>
            </a:r>
            <a:endParaRPr b="1" sz="18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logo.png" id="197" name="Google Shape;197;p26"/>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198" name="Google Shape;198;p26"/>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IN" sz="3600" u="none" cap="none" strike="noStrike">
                <a:solidFill>
                  <a:schemeClr val="lt1"/>
                </a:solidFill>
                <a:latin typeface="Times New Roman"/>
                <a:ea typeface="Times New Roman"/>
                <a:cs typeface="Times New Roman"/>
                <a:sym typeface="Times New Roman"/>
              </a:rPr>
              <a:t>PROPOSED SYSTEM</a:t>
            </a:r>
            <a:endParaRPr b="0" i="0" sz="3600" u="none" cap="none" strike="noStrike">
              <a:solidFill>
                <a:srgbClr val="000000"/>
              </a:solidFill>
              <a:latin typeface="Times New Roman"/>
              <a:ea typeface="Times New Roman"/>
              <a:cs typeface="Times New Roman"/>
              <a:sym typeface="Times New Roman"/>
            </a:endParaRPr>
          </a:p>
        </p:txBody>
      </p:sp>
      <p:sp>
        <p:nvSpPr>
          <p:cNvPr id="199" name="Google Shape;199;p26"/>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1</a:t>
            </a:r>
            <a:r>
              <a:rPr b="1" lang="en-IN" sz="1800">
                <a:solidFill>
                  <a:schemeClr val="lt1"/>
                </a:solidFill>
                <a:latin typeface="Times New Roman"/>
                <a:ea typeface="Times New Roman"/>
                <a:cs typeface="Times New Roman"/>
                <a:sym typeface="Times New Roman"/>
              </a:rPr>
              <a:t>4</a:t>
            </a:r>
            <a:endParaRPr b="1" i="0" sz="1800" u="none" cap="none" strike="noStrike">
              <a:solidFill>
                <a:schemeClr val="lt1"/>
              </a:solidFill>
              <a:latin typeface="Times New Roman"/>
              <a:ea typeface="Times New Roman"/>
              <a:cs typeface="Times New Roman"/>
              <a:sym typeface="Times New Roman"/>
            </a:endParaRPr>
          </a:p>
        </p:txBody>
      </p:sp>
      <p:sp>
        <p:nvSpPr>
          <p:cNvPr id="200" name="Google Shape;200;p26"/>
          <p:cNvSpPr/>
          <p:nvPr/>
        </p:nvSpPr>
        <p:spPr>
          <a:xfrm flipH="1">
            <a:off x="434109" y="3248191"/>
            <a:ext cx="8266546" cy="4308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201" name="Google Shape;201;p26"/>
          <p:cNvSpPr txBox="1"/>
          <p:nvPr/>
        </p:nvSpPr>
        <p:spPr>
          <a:xfrm>
            <a:off x="400500" y="1178125"/>
            <a:ext cx="3963600" cy="4830000"/>
          </a:xfrm>
          <a:prstGeom prst="rect">
            <a:avLst/>
          </a:prstGeom>
          <a:noFill/>
          <a:ln>
            <a:noFill/>
          </a:ln>
        </p:spPr>
        <p:txBody>
          <a:bodyPr anchorCtr="0" anchor="t" bIns="45700" lIns="91425" spcFirstLastPara="1" rIns="91425" wrap="square" tIns="45700">
            <a:spAutoFit/>
          </a:bodyPr>
          <a:lstStyle/>
          <a:p>
            <a:pPr indent="-342900" lvl="0" marL="457200" rtl="0" algn="l">
              <a:lnSpc>
                <a:spcPct val="115000"/>
              </a:lnSpc>
              <a:spcBef>
                <a:spcPts val="120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Smart Navigation Features</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Source and destination selection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Multiple route generation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Fastest route recommendation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Safest route recommendation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Alternative route comparison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Distance and estimated travel time</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Safety &amp; Risk Assessment</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1–6 route risk scoring system</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Road-type based safety evaluation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Time-of-day risk analysis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Traffic congestion risk assessment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Nearby active-place/crowd consideration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Lowest-risk route prioritization</a:t>
            </a:r>
            <a:endParaRPr sz="2500">
              <a:solidFill>
                <a:schemeClr val="dk1"/>
              </a:solidFill>
              <a:latin typeface="Times New Roman"/>
              <a:ea typeface="Times New Roman"/>
              <a:cs typeface="Times New Roman"/>
              <a:sym typeface="Times New Roman"/>
            </a:endParaRPr>
          </a:p>
        </p:txBody>
      </p:sp>
      <p:sp>
        <p:nvSpPr>
          <p:cNvPr id="202" name="Google Shape;202;p26"/>
          <p:cNvSpPr txBox="1"/>
          <p:nvPr/>
        </p:nvSpPr>
        <p:spPr>
          <a:xfrm>
            <a:off x="4364100" y="1178125"/>
            <a:ext cx="4151100" cy="4922400"/>
          </a:xfrm>
          <a:prstGeom prst="rect">
            <a:avLst/>
          </a:prstGeom>
          <a:noFill/>
          <a:ln>
            <a:noFill/>
          </a:ln>
        </p:spPr>
        <p:txBody>
          <a:bodyPr anchorCtr="0" anchor="t" bIns="91425" lIns="91425" spcFirstLastPara="1" rIns="91425" wrap="square" tIns="91425">
            <a:spAutoFit/>
          </a:bodyPr>
          <a:lstStyle/>
          <a:p>
            <a:pPr indent="-228600" lvl="0" marL="228600" rtl="0" algn="l">
              <a:lnSpc>
                <a:spcPct val="115000"/>
              </a:lnSpc>
              <a:spcBef>
                <a:spcPts val="120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Real-Time Conditions</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Real-time traffic information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Traffic congestion and road-closure detection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Current weather information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Air quality and pollution information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Dynamic route evaluation based on current conditions</a:t>
            </a:r>
            <a:endParaRPr sz="1800">
              <a:solidFill>
                <a:schemeClr val="dk1"/>
              </a:solidFill>
              <a:latin typeface="Times New Roman"/>
              <a:ea typeface="Times New Roman"/>
              <a:cs typeface="Times New Roman"/>
              <a:sym typeface="Times New Roman"/>
            </a:endParaRPr>
          </a:p>
          <a:p>
            <a:pPr indent="-228600" lvl="0" marL="228600" rtl="0" algn="l">
              <a:lnSpc>
                <a:spcPct val="115000"/>
              </a:lnSpc>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Interactive Map Features</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Interactive map visualization using Leaflet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Route visualization on map</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Multiple route display</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Route-specific information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Nearby places and landmarks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7"/>
          <p:cNvSpPr txBox="1"/>
          <p:nvPr>
            <p:ph type="title"/>
          </p:nvPr>
        </p:nvSpPr>
        <p:spPr>
          <a:xfrm>
            <a:off x="1092997" y="163804"/>
            <a:ext cx="7743093" cy="103446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IN" sz="3600" u="none" cap="none" strike="noStrike">
                <a:solidFill>
                  <a:schemeClr val="lt1"/>
                </a:solidFill>
                <a:latin typeface="Times New Roman"/>
                <a:ea typeface="Times New Roman"/>
                <a:cs typeface="Times New Roman"/>
                <a:sym typeface="Times New Roman"/>
              </a:rPr>
              <a:t>PROPOSED SYSTEM</a:t>
            </a:r>
            <a:endParaRPr b="0" i="0" sz="3600" u="none" cap="none" strike="noStrike">
              <a:solidFill>
                <a:srgbClr val="000000"/>
              </a:solidFill>
              <a:latin typeface="Times New Roman"/>
              <a:ea typeface="Times New Roman"/>
              <a:cs typeface="Times New Roman"/>
              <a:sym typeface="Times New Roman"/>
            </a:endParaRPr>
          </a:p>
        </p:txBody>
      </p:sp>
      <p:pic>
        <p:nvPicPr>
          <p:cNvPr descr="logo.png" id="208" name="Google Shape;208;p27"/>
          <p:cNvPicPr preferRelativeResize="0"/>
          <p:nvPr/>
        </p:nvPicPr>
        <p:blipFill rotWithShape="1">
          <a:blip r:embed="rId3">
            <a:alphaModFix/>
          </a:blip>
          <a:srcRect b="0" l="0" r="0" t="0"/>
          <a:stretch/>
        </p:blipFill>
        <p:spPr>
          <a:xfrm>
            <a:off x="164302" y="252409"/>
            <a:ext cx="928695" cy="857256"/>
          </a:xfrm>
          <a:prstGeom prst="rect">
            <a:avLst/>
          </a:prstGeom>
          <a:noFill/>
          <a:ln>
            <a:noFill/>
          </a:ln>
        </p:spPr>
      </p:pic>
      <p:sp>
        <p:nvSpPr>
          <p:cNvPr id="209" name="Google Shape;209;p27"/>
          <p:cNvSpPr txBox="1"/>
          <p:nvPr/>
        </p:nvSpPr>
        <p:spPr>
          <a:xfrm>
            <a:off x="0" y="6270171"/>
            <a:ext cx="9171708" cy="587829"/>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IN" sz="1800">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1</a:t>
            </a:r>
            <a:r>
              <a:rPr b="1" lang="en-IN" sz="1800">
                <a:solidFill>
                  <a:schemeClr val="lt1"/>
                </a:solidFill>
                <a:latin typeface="Times New Roman"/>
                <a:ea typeface="Times New Roman"/>
                <a:cs typeface="Times New Roman"/>
                <a:sym typeface="Times New Roman"/>
              </a:rPr>
              <a:t>5</a:t>
            </a:r>
            <a:endParaRPr b="1" sz="1800">
              <a:solidFill>
                <a:schemeClr val="lt1"/>
              </a:solidFill>
              <a:latin typeface="Times New Roman"/>
              <a:ea typeface="Times New Roman"/>
              <a:cs typeface="Times New Roman"/>
              <a:sym typeface="Times New Roman"/>
            </a:endParaRPr>
          </a:p>
        </p:txBody>
      </p:sp>
      <p:sp>
        <p:nvSpPr>
          <p:cNvPr id="210" name="Google Shape;210;p27"/>
          <p:cNvSpPr txBox="1"/>
          <p:nvPr>
            <p:ph idx="1" type="body"/>
          </p:nvPr>
        </p:nvSpPr>
        <p:spPr>
          <a:xfrm>
            <a:off x="628650" y="1387075"/>
            <a:ext cx="4149300" cy="4351200"/>
          </a:xfrm>
          <a:prstGeom prst="rect">
            <a:avLst/>
          </a:prstGeom>
          <a:noFill/>
          <a:ln>
            <a:noFill/>
          </a:ln>
        </p:spPr>
        <p:txBody>
          <a:bodyPr anchorCtr="0" anchor="t" bIns="45700" lIns="91425" spcFirstLastPara="1" rIns="91425" wrap="square" tIns="45700">
            <a:noAutofit/>
          </a:bodyPr>
          <a:lstStyle/>
          <a:p>
            <a:pPr indent="-228600" lvl="0" marL="228600" rtl="0" algn="l">
              <a:lnSpc>
                <a:spcPct val="115000"/>
              </a:lnSpc>
              <a:spcBef>
                <a:spcPts val="1200"/>
              </a:spcBef>
              <a:spcAft>
                <a:spcPts val="0"/>
              </a:spcAft>
              <a:buSzPts val="1800"/>
              <a:buFont typeface="Times New Roman"/>
              <a:buChar char="✔"/>
            </a:pPr>
            <a:r>
              <a:rPr b="1" lang="en-IN" sz="1800">
                <a:latin typeface="Times New Roman"/>
                <a:ea typeface="Times New Roman"/>
                <a:cs typeface="Times New Roman"/>
                <a:sym typeface="Times New Roman"/>
              </a:rPr>
              <a:t>AI-Powered Route Recommendation</a:t>
            </a:r>
            <a:endParaRPr b="1"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Multi-factor route evaluation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Intelligent safety-score calculation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Real-time data-based decision making</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Route ranking based on risk score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Safest-route selection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Balanced consideration of safety and travel efficiency</a:t>
            </a:r>
            <a:endParaRPr sz="2500">
              <a:latin typeface="Times New Roman"/>
              <a:ea typeface="Times New Roman"/>
              <a:cs typeface="Times New Roman"/>
              <a:sym typeface="Times New Roman"/>
            </a:endParaRPr>
          </a:p>
          <a:p>
            <a:pPr indent="-228600" lvl="0" marL="228600" rtl="0" algn="l">
              <a:lnSpc>
                <a:spcPct val="115000"/>
              </a:lnSpc>
              <a:spcBef>
                <a:spcPts val="0"/>
              </a:spcBef>
              <a:spcAft>
                <a:spcPts val="0"/>
              </a:spcAft>
              <a:buSzPts val="1800"/>
              <a:buFont typeface="Times New Roman"/>
              <a:buChar char="✔"/>
            </a:pPr>
            <a:r>
              <a:rPr b="1" lang="en-IN" sz="1800">
                <a:latin typeface="Times New Roman"/>
                <a:ea typeface="Times New Roman"/>
                <a:cs typeface="Times New Roman"/>
                <a:sym typeface="Times New Roman"/>
              </a:rPr>
              <a:t>Urban Insight Features</a:t>
            </a:r>
            <a:endParaRPr b="1"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Nearby shops and cafés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Hospitals and healthcare locations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Police stations and safety-related locations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Active-place density information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Environmental condition awareness</a:t>
            </a:r>
            <a:endParaRPr sz="2500">
              <a:latin typeface="Times New Roman"/>
              <a:ea typeface="Times New Roman"/>
              <a:cs typeface="Times New Roman"/>
              <a:sym typeface="Times New Roman"/>
            </a:endParaRPr>
          </a:p>
          <a:p>
            <a:pPr indent="0" lvl="0" marL="0" rtl="0" algn="l">
              <a:lnSpc>
                <a:spcPct val="90000"/>
              </a:lnSpc>
              <a:spcBef>
                <a:spcPts val="1200"/>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p>
        </p:txBody>
      </p:sp>
      <p:sp>
        <p:nvSpPr>
          <p:cNvPr id="211" name="Google Shape;211;p27"/>
          <p:cNvSpPr txBox="1"/>
          <p:nvPr>
            <p:ph idx="2" type="body"/>
          </p:nvPr>
        </p:nvSpPr>
        <p:spPr>
          <a:xfrm>
            <a:off x="4777900" y="1387075"/>
            <a:ext cx="4058100" cy="4351200"/>
          </a:xfrm>
          <a:prstGeom prst="rect">
            <a:avLst/>
          </a:prstGeom>
          <a:noFill/>
          <a:ln>
            <a:noFill/>
          </a:ln>
        </p:spPr>
        <p:txBody>
          <a:bodyPr anchorCtr="0" anchor="t" bIns="45700" lIns="91425" spcFirstLastPara="1" rIns="91425" wrap="square" tIns="45700">
            <a:noAutofit/>
          </a:bodyPr>
          <a:lstStyle/>
          <a:p>
            <a:pPr indent="-228600" lvl="0" marL="228600" rtl="0" algn="l">
              <a:lnSpc>
                <a:spcPct val="115000"/>
              </a:lnSpc>
              <a:spcBef>
                <a:spcPts val="1200"/>
              </a:spcBef>
              <a:spcAft>
                <a:spcPts val="0"/>
              </a:spcAft>
              <a:buSzPts val="1800"/>
              <a:buFont typeface="Times New Roman"/>
              <a:buChar char="✔"/>
            </a:pPr>
            <a:r>
              <a:rPr b="1" lang="en-IN" sz="1800">
                <a:latin typeface="Times New Roman"/>
                <a:ea typeface="Times New Roman"/>
                <a:cs typeface="Times New Roman"/>
                <a:sym typeface="Times New Roman"/>
              </a:rPr>
              <a:t>Backend &amp; API Integration</a:t>
            </a:r>
            <a:endParaRPr b="1"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Python Flask backend</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OpenRouteService integration for route generation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Weather API integration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Air-quality API integration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Unsplash API integration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Frontend–backend API communication</a:t>
            </a:r>
            <a:endParaRPr sz="1800">
              <a:latin typeface="Times New Roman"/>
              <a:ea typeface="Times New Roman"/>
              <a:cs typeface="Times New Roman"/>
              <a:sym typeface="Times New Roman"/>
            </a:endParaRPr>
          </a:p>
          <a:p>
            <a:pPr indent="-228600" lvl="0" marL="228600" rtl="0" algn="l">
              <a:lnSpc>
                <a:spcPct val="115000"/>
              </a:lnSpc>
              <a:spcBef>
                <a:spcPts val="0"/>
              </a:spcBef>
              <a:spcAft>
                <a:spcPts val="0"/>
              </a:spcAft>
              <a:buSzPts val="1800"/>
              <a:buFont typeface="Times New Roman"/>
              <a:buChar char="✔"/>
            </a:pPr>
            <a:r>
              <a:rPr b="1" lang="en-IN" sz="1800">
                <a:latin typeface="Times New Roman"/>
                <a:ea typeface="Times New Roman"/>
                <a:cs typeface="Times New Roman"/>
                <a:sym typeface="Times New Roman"/>
              </a:rPr>
              <a:t>User Experience</a:t>
            </a:r>
            <a:endParaRPr b="1"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Simple route search interface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Visual route comparison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Safety score display</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Real-time travel information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Responsive and interactive interface</a:t>
            </a:r>
            <a:endParaRPr sz="1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8"/>
          <p:cNvSpPr txBox="1"/>
          <p:nvPr>
            <p:ph idx="1" type="body"/>
          </p:nvPr>
        </p:nvSpPr>
        <p:spPr>
          <a:xfrm>
            <a:off x="628648" y="1387087"/>
            <a:ext cx="5678845"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en-IN" sz="1800">
                <a:latin typeface="Times New Roman"/>
                <a:ea typeface="Times New Roman"/>
                <a:cs typeface="Times New Roman"/>
                <a:sym typeface="Times New Roman"/>
              </a:rPr>
              <a:t> </a:t>
            </a:r>
            <a:endParaRPr sz="1800"/>
          </a:p>
        </p:txBody>
      </p:sp>
      <p:sp>
        <p:nvSpPr>
          <p:cNvPr id="217" name="Google Shape;217;p28"/>
          <p:cNvSpPr txBox="1"/>
          <p:nvPr>
            <p:ph idx="2" type="body"/>
          </p:nvPr>
        </p:nvSpPr>
        <p:spPr>
          <a:xfrm>
            <a:off x="354575" y="1387075"/>
            <a:ext cx="8481600" cy="46056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800"/>
              <a:buNone/>
            </a:pPr>
            <a:r>
              <a:rPr b="1" lang="en-IN" sz="1800">
                <a:latin typeface="Times New Roman"/>
                <a:ea typeface="Times New Roman"/>
                <a:cs typeface="Times New Roman"/>
                <a:sym typeface="Times New Roman"/>
              </a:rPr>
              <a:t>1. Smart Online Pre-Ordering</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lang="en-IN" sz="1800">
                <a:latin typeface="Times New Roman"/>
                <a:ea typeface="Times New Roman"/>
                <a:cs typeface="Times New Roman"/>
                <a:sym typeface="Times New Roman"/>
              </a:rPr>
              <a:t>Customers can browse the menu, customize dishes, and place orders before arriving at the restaurant, reducing waiting time.</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b="1" lang="en-IN" sz="1800">
                <a:latin typeface="Times New Roman"/>
                <a:ea typeface="Times New Roman"/>
                <a:cs typeface="Times New Roman"/>
                <a:sym typeface="Times New Roman"/>
              </a:rPr>
              <a:t>2. Secure Digital Payments</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lang="en-IN" sz="1800">
                <a:latin typeface="Times New Roman"/>
                <a:ea typeface="Times New Roman"/>
                <a:cs typeface="Times New Roman"/>
                <a:sym typeface="Times New Roman"/>
              </a:rPr>
              <a:t>Supports Razorpay and Cash at Table with secure payment verification, instant payment confirmation, and multiple payment options.</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b="1" lang="en-IN" sz="1800">
                <a:latin typeface="Times New Roman"/>
                <a:ea typeface="Times New Roman"/>
                <a:cs typeface="Times New Roman"/>
                <a:sym typeface="Times New Roman"/>
              </a:rPr>
              <a:t>3. Real-Time Table Reservation</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lang="en-IN" sz="1800">
                <a:latin typeface="Times New Roman"/>
                <a:ea typeface="Times New Roman"/>
                <a:cs typeface="Times New Roman"/>
                <a:sym typeface="Times New Roman"/>
              </a:rPr>
              <a:t>Customers can view available tables, reserve their preferred table, and select convenient dining time slots.</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b="1" lang="en-IN" sz="1800">
                <a:latin typeface="Times New Roman"/>
                <a:ea typeface="Times New Roman"/>
                <a:cs typeface="Times New Roman"/>
                <a:sym typeface="Times New Roman"/>
              </a:rPr>
              <a:t>4. Automated Order &amp; Kitchen Management</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lang="en-IN" sz="1800">
                <a:latin typeface="Times New Roman"/>
                <a:ea typeface="Times New Roman"/>
                <a:cs typeface="Times New Roman"/>
                <a:sym typeface="Times New Roman"/>
              </a:rPr>
              <a:t>Orders are instantly sent to the kitchen dashboard, enabling faster preparation and efficient order tracking.</a:t>
            </a:r>
            <a:endParaRPr sz="1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p:txBody>
      </p:sp>
      <p:sp>
        <p:nvSpPr>
          <p:cNvPr id="218" name="Google Shape;218;p28"/>
          <p:cNvSpPr txBox="1"/>
          <p:nvPr>
            <p:ph type="title"/>
          </p:nvPr>
        </p:nvSpPr>
        <p:spPr>
          <a:xfrm>
            <a:off x="1092997" y="163804"/>
            <a:ext cx="7743093" cy="103446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IN" sz="3600" u="none" cap="none" strike="noStrike">
                <a:solidFill>
                  <a:schemeClr val="lt1"/>
                </a:solidFill>
                <a:latin typeface="Times New Roman"/>
                <a:ea typeface="Times New Roman"/>
                <a:cs typeface="Times New Roman"/>
                <a:sym typeface="Times New Roman"/>
              </a:rPr>
              <a:t>ADVANTAGES OF</a:t>
            </a:r>
            <a:br>
              <a:rPr b="1" i="0" lang="en-IN" sz="3600" u="none" cap="none" strike="noStrike">
                <a:solidFill>
                  <a:schemeClr val="lt1"/>
                </a:solidFill>
                <a:latin typeface="Times New Roman"/>
                <a:ea typeface="Times New Roman"/>
                <a:cs typeface="Times New Roman"/>
                <a:sym typeface="Times New Roman"/>
              </a:rPr>
            </a:br>
            <a:r>
              <a:rPr b="1" i="0" lang="en-IN" sz="3600" u="none" cap="none" strike="noStrike">
                <a:solidFill>
                  <a:schemeClr val="lt1"/>
                </a:solidFill>
                <a:latin typeface="Times New Roman"/>
                <a:ea typeface="Times New Roman"/>
                <a:cs typeface="Times New Roman"/>
                <a:sym typeface="Times New Roman"/>
              </a:rPr>
              <a:t>PROPOSED SYSTEM</a:t>
            </a:r>
            <a:endParaRPr b="0" i="0" sz="3600" u="none" cap="none" strike="noStrike">
              <a:solidFill>
                <a:srgbClr val="000000"/>
              </a:solidFill>
              <a:latin typeface="Times New Roman"/>
              <a:ea typeface="Times New Roman"/>
              <a:cs typeface="Times New Roman"/>
              <a:sym typeface="Times New Roman"/>
            </a:endParaRPr>
          </a:p>
        </p:txBody>
      </p:sp>
      <p:pic>
        <p:nvPicPr>
          <p:cNvPr descr="logo.png" id="219" name="Google Shape;219;p28"/>
          <p:cNvPicPr preferRelativeResize="0"/>
          <p:nvPr/>
        </p:nvPicPr>
        <p:blipFill rotWithShape="1">
          <a:blip r:embed="rId3">
            <a:alphaModFix/>
          </a:blip>
          <a:srcRect b="0" l="0" r="0" t="0"/>
          <a:stretch/>
        </p:blipFill>
        <p:spPr>
          <a:xfrm>
            <a:off x="164302" y="252409"/>
            <a:ext cx="928695" cy="857256"/>
          </a:xfrm>
          <a:prstGeom prst="rect">
            <a:avLst/>
          </a:prstGeom>
          <a:noFill/>
          <a:ln>
            <a:noFill/>
          </a:ln>
        </p:spPr>
      </p:pic>
      <p:sp>
        <p:nvSpPr>
          <p:cNvPr id="220" name="Google Shape;220;p28"/>
          <p:cNvSpPr txBox="1"/>
          <p:nvPr/>
        </p:nvSpPr>
        <p:spPr>
          <a:xfrm>
            <a:off x="0" y="6270171"/>
            <a:ext cx="9171708" cy="587829"/>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IN" sz="1800">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1</a:t>
            </a:r>
            <a:r>
              <a:rPr b="1" lang="en-IN" sz="1800">
                <a:solidFill>
                  <a:schemeClr val="lt1"/>
                </a:solidFill>
                <a:latin typeface="Times New Roman"/>
                <a:ea typeface="Times New Roman"/>
                <a:cs typeface="Times New Roman"/>
                <a:sym typeface="Times New Roman"/>
              </a:rPr>
              <a:t>6</a:t>
            </a:r>
            <a:endParaRPr b="1"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idx="1" type="body"/>
          </p:nvPr>
        </p:nvSpPr>
        <p:spPr>
          <a:xfrm>
            <a:off x="628648" y="1387087"/>
            <a:ext cx="5678845"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en-IN" sz="1800">
                <a:latin typeface="Times New Roman"/>
                <a:ea typeface="Times New Roman"/>
                <a:cs typeface="Times New Roman"/>
                <a:sym typeface="Times New Roman"/>
              </a:rPr>
              <a:t> </a:t>
            </a:r>
            <a:endParaRPr sz="1800"/>
          </a:p>
        </p:txBody>
      </p:sp>
      <p:sp>
        <p:nvSpPr>
          <p:cNvPr id="226" name="Google Shape;226;p29"/>
          <p:cNvSpPr txBox="1"/>
          <p:nvPr>
            <p:ph idx="2" type="body"/>
          </p:nvPr>
        </p:nvSpPr>
        <p:spPr>
          <a:xfrm>
            <a:off x="354575" y="1387075"/>
            <a:ext cx="8481600" cy="46287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800"/>
              <a:buNone/>
            </a:pPr>
            <a:r>
              <a:rPr b="1" lang="en-IN" sz="1800">
                <a:latin typeface="Times New Roman"/>
                <a:ea typeface="Times New Roman"/>
                <a:cs typeface="Times New Roman"/>
                <a:sym typeface="Times New Roman"/>
              </a:rPr>
              <a:t>5. Live Order Tracking &amp; Notifications</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lang="en-IN" sz="1800">
                <a:latin typeface="Times New Roman"/>
                <a:ea typeface="Times New Roman"/>
                <a:cs typeface="Times New Roman"/>
                <a:sym typeface="Times New Roman"/>
              </a:rPr>
              <a:t>Customers receive order confirmation, payment confirmation, and reservation emails with real-time order updates.</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b="1" lang="en-IN" sz="1800">
                <a:latin typeface="Times New Roman"/>
                <a:ea typeface="Times New Roman"/>
                <a:cs typeface="Times New Roman"/>
                <a:sym typeface="Times New Roman"/>
              </a:rPr>
              <a:t>6. Inventory &amp; Stock Management</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lang="en-IN" sz="1800">
                <a:latin typeface="Times New Roman"/>
                <a:ea typeface="Times New Roman"/>
                <a:cs typeface="Times New Roman"/>
                <a:sym typeface="Times New Roman"/>
              </a:rPr>
              <a:t>Automatically updates food availability based on stock levels, preventing unavailable items from being ordered.</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b="1" lang="en-IN" sz="1800">
                <a:latin typeface="Times New Roman"/>
                <a:ea typeface="Times New Roman"/>
                <a:cs typeface="Times New Roman"/>
                <a:sym typeface="Times New Roman"/>
              </a:rPr>
              <a:t>7. Enhanced Customer Experience</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lang="en-IN" sz="1800">
                <a:latin typeface="Times New Roman"/>
                <a:ea typeface="Times New Roman"/>
                <a:cs typeface="Times New Roman"/>
                <a:sym typeface="Times New Roman"/>
              </a:rPr>
              <a:t>Offers personalized ordering, reduced waiting time, convenient reservations, and a smooth dining experience.</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b="1" lang="en-IN" sz="1800">
                <a:latin typeface="Times New Roman"/>
                <a:ea typeface="Times New Roman"/>
                <a:cs typeface="Times New Roman"/>
                <a:sym typeface="Times New Roman"/>
              </a:rPr>
              <a:t>8. Admin Dashboard &amp; Analytics</a:t>
            </a:r>
            <a:endParaRPr sz="1800">
              <a:latin typeface="Times New Roman"/>
              <a:ea typeface="Times New Roman"/>
              <a:cs typeface="Times New Roman"/>
              <a:sym typeface="Times New Roman"/>
            </a:endParaRPr>
          </a:p>
          <a:p>
            <a:pPr indent="0" lvl="0" marL="0" rtl="0" algn="just">
              <a:lnSpc>
                <a:spcPct val="100000"/>
              </a:lnSpc>
              <a:spcBef>
                <a:spcPts val="1000"/>
              </a:spcBef>
              <a:spcAft>
                <a:spcPts val="0"/>
              </a:spcAft>
              <a:buClr>
                <a:schemeClr val="dk1"/>
              </a:buClr>
              <a:buSzPts val="1800"/>
              <a:buNone/>
            </a:pPr>
            <a:r>
              <a:rPr lang="en-IN" sz="1800">
                <a:latin typeface="Times New Roman"/>
                <a:ea typeface="Times New Roman"/>
                <a:cs typeface="Times New Roman"/>
                <a:sym typeface="Times New Roman"/>
              </a:rPr>
              <a:t>Administrators can manage menu items, reservations, orders, payments, and customer feedback from a centralized dashboard</a:t>
            </a:r>
            <a:endParaRPr sz="1800">
              <a:latin typeface="Times New Roman"/>
              <a:ea typeface="Times New Roman"/>
              <a:cs typeface="Times New Roman"/>
              <a:sym typeface="Times New Roman"/>
            </a:endParaRPr>
          </a:p>
        </p:txBody>
      </p:sp>
      <p:sp>
        <p:nvSpPr>
          <p:cNvPr id="227" name="Google Shape;227;p29"/>
          <p:cNvSpPr txBox="1"/>
          <p:nvPr>
            <p:ph type="title"/>
          </p:nvPr>
        </p:nvSpPr>
        <p:spPr>
          <a:xfrm>
            <a:off x="1092997" y="163804"/>
            <a:ext cx="7743093" cy="103446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IN" sz="3600" u="none" cap="none" strike="noStrike">
                <a:solidFill>
                  <a:schemeClr val="lt1"/>
                </a:solidFill>
                <a:latin typeface="Times New Roman"/>
                <a:ea typeface="Times New Roman"/>
                <a:cs typeface="Times New Roman"/>
                <a:sym typeface="Times New Roman"/>
              </a:rPr>
              <a:t>ADVANTAGES OF</a:t>
            </a:r>
            <a:br>
              <a:rPr b="1" i="0" lang="en-IN" sz="3600" u="none" cap="none" strike="noStrike">
                <a:solidFill>
                  <a:schemeClr val="lt1"/>
                </a:solidFill>
                <a:latin typeface="Times New Roman"/>
                <a:ea typeface="Times New Roman"/>
                <a:cs typeface="Times New Roman"/>
                <a:sym typeface="Times New Roman"/>
              </a:rPr>
            </a:br>
            <a:r>
              <a:rPr b="1" i="0" lang="en-IN" sz="3600" u="none" cap="none" strike="noStrike">
                <a:solidFill>
                  <a:schemeClr val="lt1"/>
                </a:solidFill>
                <a:latin typeface="Times New Roman"/>
                <a:ea typeface="Times New Roman"/>
                <a:cs typeface="Times New Roman"/>
                <a:sym typeface="Times New Roman"/>
              </a:rPr>
              <a:t>PROPOSED SYSTEM</a:t>
            </a:r>
            <a:endParaRPr b="0" i="0" sz="3600" u="none" cap="none" strike="noStrike">
              <a:solidFill>
                <a:srgbClr val="000000"/>
              </a:solidFill>
              <a:latin typeface="Times New Roman"/>
              <a:ea typeface="Times New Roman"/>
              <a:cs typeface="Times New Roman"/>
              <a:sym typeface="Times New Roman"/>
            </a:endParaRPr>
          </a:p>
        </p:txBody>
      </p:sp>
      <p:pic>
        <p:nvPicPr>
          <p:cNvPr descr="logo.png" id="228" name="Google Shape;228;p29"/>
          <p:cNvPicPr preferRelativeResize="0"/>
          <p:nvPr/>
        </p:nvPicPr>
        <p:blipFill rotWithShape="1">
          <a:blip r:embed="rId3">
            <a:alphaModFix/>
          </a:blip>
          <a:srcRect b="0" l="0" r="0" t="0"/>
          <a:stretch/>
        </p:blipFill>
        <p:spPr>
          <a:xfrm>
            <a:off x="164302" y="252409"/>
            <a:ext cx="928695" cy="857256"/>
          </a:xfrm>
          <a:prstGeom prst="rect">
            <a:avLst/>
          </a:prstGeom>
          <a:noFill/>
          <a:ln>
            <a:noFill/>
          </a:ln>
        </p:spPr>
      </p:pic>
      <p:sp>
        <p:nvSpPr>
          <p:cNvPr id="229" name="Google Shape;229;p29"/>
          <p:cNvSpPr txBox="1"/>
          <p:nvPr/>
        </p:nvSpPr>
        <p:spPr>
          <a:xfrm>
            <a:off x="0" y="6270171"/>
            <a:ext cx="9171708" cy="587829"/>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IN" sz="1800">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1</a:t>
            </a:r>
            <a:r>
              <a:rPr b="1" lang="en-IN" sz="1800">
                <a:solidFill>
                  <a:schemeClr val="lt1"/>
                </a:solidFill>
                <a:latin typeface="Times New Roman"/>
                <a:ea typeface="Times New Roman"/>
                <a:cs typeface="Times New Roman"/>
                <a:sym typeface="Times New Roman"/>
              </a:rPr>
              <a:t>7</a:t>
            </a:r>
            <a:endParaRPr b="1"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logo.png" id="234" name="Google Shape;234;p30"/>
          <p:cNvPicPr preferRelativeResize="0"/>
          <p:nvPr/>
        </p:nvPicPr>
        <p:blipFill rotWithShape="1">
          <a:blip r:embed="rId3">
            <a:alphaModFix/>
          </a:blip>
          <a:srcRect b="0" l="0" r="0" t="0"/>
          <a:stretch/>
        </p:blipFill>
        <p:spPr>
          <a:xfrm>
            <a:off x="164302" y="227061"/>
            <a:ext cx="928695" cy="857256"/>
          </a:xfrm>
          <a:prstGeom prst="rect">
            <a:avLst/>
          </a:prstGeom>
          <a:noFill/>
          <a:ln>
            <a:noFill/>
          </a:ln>
        </p:spPr>
      </p:pic>
      <p:sp>
        <p:nvSpPr>
          <p:cNvPr id="235" name="Google Shape;235;p30"/>
          <p:cNvSpPr txBox="1"/>
          <p:nvPr/>
        </p:nvSpPr>
        <p:spPr>
          <a:xfrm>
            <a:off x="1215022" y="205277"/>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SYSTEM ARCHITECTURE</a:t>
            </a:r>
            <a:endParaRPr sz="3600">
              <a:solidFill>
                <a:srgbClr val="000000"/>
              </a:solidFill>
              <a:latin typeface="Times New Roman"/>
              <a:ea typeface="Times New Roman"/>
              <a:cs typeface="Times New Roman"/>
              <a:sym typeface="Times New Roman"/>
            </a:endParaRPr>
          </a:p>
        </p:txBody>
      </p:sp>
      <p:sp>
        <p:nvSpPr>
          <p:cNvPr id="236" name="Google Shape;236;p30"/>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1</a:t>
            </a:r>
            <a:r>
              <a:rPr b="1" lang="en-IN" sz="1800">
                <a:solidFill>
                  <a:schemeClr val="lt1"/>
                </a:solidFill>
                <a:latin typeface="Times New Roman"/>
                <a:ea typeface="Times New Roman"/>
                <a:cs typeface="Times New Roman"/>
                <a:sym typeface="Times New Roman"/>
              </a:rPr>
              <a:t>8</a:t>
            </a:r>
            <a:endParaRPr b="1" i="0" sz="1800" u="none" cap="none" strike="noStrike">
              <a:solidFill>
                <a:schemeClr val="lt1"/>
              </a:solidFill>
              <a:latin typeface="Times New Roman"/>
              <a:ea typeface="Times New Roman"/>
              <a:cs typeface="Times New Roman"/>
              <a:sym typeface="Times New Roman"/>
            </a:endParaRPr>
          </a:p>
        </p:txBody>
      </p:sp>
      <p:sp>
        <p:nvSpPr>
          <p:cNvPr id="237" name="Google Shape;237;p30"/>
          <p:cNvSpPr/>
          <p:nvPr/>
        </p:nvSpPr>
        <p:spPr>
          <a:xfrm flipH="1">
            <a:off x="-910659" y="3941742"/>
            <a:ext cx="8266546" cy="4308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238" name="Google Shape;238;p30"/>
          <p:cNvSpPr/>
          <p:nvPr/>
        </p:nvSpPr>
        <p:spPr>
          <a:xfrm flipH="1">
            <a:off x="498763" y="2690934"/>
            <a:ext cx="8201891"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239" name="Google Shape;239;p30"/>
          <p:cNvSpPr/>
          <p:nvPr/>
        </p:nvSpPr>
        <p:spPr>
          <a:xfrm flipH="1">
            <a:off x="434108" y="3076695"/>
            <a:ext cx="8146473"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pic>
        <p:nvPicPr>
          <p:cNvPr id="240" name="Google Shape;240;p30" title="ChatGPT Image Aug 11, 2026, 02_12_33 PM.png"/>
          <p:cNvPicPr preferRelativeResize="0"/>
          <p:nvPr/>
        </p:nvPicPr>
        <p:blipFill>
          <a:blip r:embed="rId4">
            <a:alphaModFix/>
          </a:blip>
          <a:stretch>
            <a:fillRect/>
          </a:stretch>
        </p:blipFill>
        <p:spPr>
          <a:xfrm>
            <a:off x="743950" y="1084325"/>
            <a:ext cx="7642199" cy="50947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logo.png" id="245" name="Google Shape;245;p31"/>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246" name="Google Shape;246;p31"/>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PROPOSED METHODOLOGY</a:t>
            </a:r>
            <a:endParaRPr sz="3600">
              <a:solidFill>
                <a:srgbClr val="000000"/>
              </a:solidFill>
              <a:latin typeface="Times New Roman"/>
              <a:ea typeface="Times New Roman"/>
              <a:cs typeface="Times New Roman"/>
              <a:sym typeface="Times New Roman"/>
            </a:endParaRPr>
          </a:p>
        </p:txBody>
      </p:sp>
      <p:sp>
        <p:nvSpPr>
          <p:cNvPr id="247" name="Google Shape;247;p31"/>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IN" sz="1800">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a:t>
            </a:r>
            <a:r>
              <a:rPr b="1" lang="en-IN" sz="1800">
                <a:solidFill>
                  <a:schemeClr val="lt1"/>
                </a:solidFill>
                <a:latin typeface="Times New Roman"/>
                <a:ea typeface="Times New Roman"/>
                <a:cs typeface="Times New Roman"/>
                <a:sym typeface="Times New Roman"/>
              </a:rPr>
              <a:t>19</a:t>
            </a:r>
            <a:endParaRPr b="1" i="0" sz="1800" u="none" cap="none" strike="noStrike">
              <a:solidFill>
                <a:schemeClr val="lt1"/>
              </a:solidFill>
              <a:latin typeface="Times New Roman"/>
              <a:ea typeface="Times New Roman"/>
              <a:cs typeface="Times New Roman"/>
              <a:sym typeface="Times New Roman"/>
            </a:endParaRPr>
          </a:p>
        </p:txBody>
      </p:sp>
      <p:sp>
        <p:nvSpPr>
          <p:cNvPr id="248" name="Google Shape;248;p31"/>
          <p:cNvSpPr/>
          <p:nvPr/>
        </p:nvSpPr>
        <p:spPr>
          <a:xfrm flipH="1">
            <a:off x="434109" y="3248191"/>
            <a:ext cx="8266546" cy="4308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249" name="Google Shape;249;p31"/>
          <p:cNvSpPr/>
          <p:nvPr/>
        </p:nvSpPr>
        <p:spPr>
          <a:xfrm flipH="1">
            <a:off x="498763" y="2690934"/>
            <a:ext cx="8201891"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250" name="Google Shape;250;p31"/>
          <p:cNvSpPr txBox="1"/>
          <p:nvPr/>
        </p:nvSpPr>
        <p:spPr>
          <a:xfrm>
            <a:off x="601650" y="1458825"/>
            <a:ext cx="8202000" cy="41868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None/>
            </a:pPr>
            <a:r>
              <a:rPr b="1" lang="en-IN" sz="1800">
                <a:solidFill>
                  <a:schemeClr val="dk1"/>
                </a:solidFill>
                <a:latin typeface="Times New Roman"/>
                <a:ea typeface="Times New Roman"/>
                <a:cs typeface="Times New Roman"/>
                <a:sym typeface="Times New Roman"/>
              </a:rPr>
              <a:t>Step 1: User Input &amp; Route Generation</a:t>
            </a:r>
            <a:r>
              <a:rPr lang="en-I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120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User enters the </a:t>
            </a:r>
            <a:r>
              <a:rPr b="1" lang="en-IN" sz="1800">
                <a:solidFill>
                  <a:schemeClr val="dk1"/>
                </a:solidFill>
                <a:latin typeface="Times New Roman"/>
                <a:ea typeface="Times New Roman"/>
                <a:cs typeface="Times New Roman"/>
                <a:sym typeface="Times New Roman"/>
              </a:rPr>
              <a:t>source, destination, and travel mode</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Flask backend sends the request to </a:t>
            </a:r>
            <a:r>
              <a:rPr b="1" lang="en-IN" sz="1800">
                <a:solidFill>
                  <a:schemeClr val="dk1"/>
                </a:solidFill>
                <a:latin typeface="Times New Roman"/>
                <a:ea typeface="Times New Roman"/>
                <a:cs typeface="Times New Roman"/>
                <a:sym typeface="Times New Roman"/>
              </a:rPr>
              <a:t>OpenRouteService</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Multiple alternative routes with road information are generated.</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IN" sz="1800">
                <a:solidFill>
                  <a:schemeClr val="dk1"/>
                </a:solidFill>
                <a:latin typeface="Times New Roman"/>
                <a:ea typeface="Times New Roman"/>
                <a:cs typeface="Times New Roman"/>
                <a:sym typeface="Times New Roman"/>
              </a:rPr>
              <a:t>Step 2: Road &amp; Time-Based Safety Analysis</a:t>
            </a:r>
            <a:r>
              <a:rPr lang="en-I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120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Road types are analyzed to calculate the </a:t>
            </a:r>
            <a:r>
              <a:rPr b="1" lang="en-IN" sz="1800">
                <a:solidFill>
                  <a:schemeClr val="dk1"/>
                </a:solidFill>
                <a:latin typeface="Times New Roman"/>
                <a:ea typeface="Times New Roman"/>
                <a:cs typeface="Times New Roman"/>
                <a:sym typeface="Times New Roman"/>
              </a:rPr>
              <a:t>base risk score</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Late-night and low-light conditions add a </a:t>
            </a:r>
            <a:r>
              <a:rPr b="1" lang="en-IN" sz="1800">
                <a:solidFill>
                  <a:schemeClr val="dk1"/>
                </a:solidFill>
                <a:latin typeface="Times New Roman"/>
                <a:ea typeface="Times New Roman"/>
                <a:cs typeface="Times New Roman"/>
                <a:sym typeface="Times New Roman"/>
              </a:rPr>
              <a:t>time-based risk penalty</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The system considers road characteristics and travel conditions for each route.</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IN" sz="1800">
                <a:solidFill>
                  <a:schemeClr val="dk1"/>
                </a:solidFill>
                <a:latin typeface="Times New Roman"/>
                <a:ea typeface="Times New Roman"/>
                <a:cs typeface="Times New Roman"/>
                <a:sym typeface="Times New Roman"/>
              </a:rPr>
              <a:t>Step 3: Activity &amp; Lighting Analysis</a:t>
            </a:r>
            <a:r>
              <a:rPr lang="en-I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1200"/>
              </a:spcBef>
              <a:spcAft>
                <a:spcPts val="0"/>
              </a:spcAft>
              <a:buClr>
                <a:schemeClr val="dk1"/>
              </a:buClr>
              <a:buSzPts val="1800"/>
              <a:buChar char="●"/>
            </a:pPr>
            <a:r>
              <a:rPr b="1" lang="en-IN" sz="1800">
                <a:solidFill>
                  <a:schemeClr val="dk1"/>
                </a:solidFill>
                <a:latin typeface="Times New Roman"/>
                <a:ea typeface="Times New Roman"/>
                <a:cs typeface="Times New Roman"/>
                <a:sym typeface="Times New Roman"/>
              </a:rPr>
              <a:t>Overpass API</a:t>
            </a:r>
            <a:r>
              <a:rPr lang="en-IN" sz="1800">
                <a:solidFill>
                  <a:schemeClr val="dk1"/>
                </a:solidFill>
                <a:latin typeface="Times New Roman"/>
                <a:ea typeface="Times New Roman"/>
                <a:cs typeface="Times New Roman"/>
                <a:sym typeface="Times New Roman"/>
              </a:rPr>
              <a:t> identifies nearby shops, cafés, hospitals, and police facilities.</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Nearby active places provide a </a:t>
            </a:r>
            <a:r>
              <a:rPr b="1" lang="en-IN" sz="1800">
                <a:solidFill>
                  <a:schemeClr val="dk1"/>
                </a:solidFill>
                <a:latin typeface="Times New Roman"/>
                <a:ea typeface="Times New Roman"/>
                <a:cs typeface="Times New Roman"/>
                <a:sym typeface="Times New Roman"/>
              </a:rPr>
              <a:t>crowd/activity safety bonus</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Street lamps and lit/main-road coverage provide a </a:t>
            </a:r>
            <a:r>
              <a:rPr b="1" lang="en-IN" sz="1800">
                <a:solidFill>
                  <a:schemeClr val="dk1"/>
                </a:solidFill>
                <a:latin typeface="Times New Roman"/>
                <a:ea typeface="Times New Roman"/>
                <a:cs typeface="Times New Roman"/>
                <a:sym typeface="Times New Roman"/>
              </a:rPr>
              <a:t>lighting bonus</a:t>
            </a:r>
            <a:r>
              <a:rPr lang="en-IN" sz="1800">
                <a:solidFill>
                  <a:schemeClr val="dk1"/>
                </a:solidFill>
                <a:latin typeface="Times New Roman"/>
                <a:ea typeface="Times New Roman"/>
                <a:cs typeface="Times New Roman"/>
                <a:sym typeface="Times New Roman"/>
              </a:rPr>
              <a:t>.</a:t>
            </a:r>
            <a:endParaRPr b="1" sz="18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descr="logo.png" id="255" name="Google Shape;255;p32"/>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256" name="Google Shape;256;p32"/>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PROPOSED METHODOLOGY</a:t>
            </a:r>
            <a:endParaRPr sz="3600">
              <a:solidFill>
                <a:srgbClr val="000000"/>
              </a:solidFill>
              <a:latin typeface="Times New Roman"/>
              <a:ea typeface="Times New Roman"/>
              <a:cs typeface="Times New Roman"/>
              <a:sym typeface="Times New Roman"/>
            </a:endParaRPr>
          </a:p>
        </p:txBody>
      </p:sp>
      <p:sp>
        <p:nvSpPr>
          <p:cNvPr id="257" name="Google Shape;257;p32"/>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a:t>
            </a:r>
            <a:r>
              <a:rPr b="1" lang="en-IN" sz="1800">
                <a:solidFill>
                  <a:schemeClr val="lt1"/>
                </a:solidFill>
                <a:latin typeface="Times New Roman"/>
                <a:ea typeface="Times New Roman"/>
                <a:cs typeface="Times New Roman"/>
                <a:sym typeface="Times New Roman"/>
              </a:rPr>
              <a:t>20</a:t>
            </a:r>
            <a:endParaRPr b="1" i="0" sz="1800" u="none" cap="none" strike="noStrike">
              <a:solidFill>
                <a:schemeClr val="lt1"/>
              </a:solidFill>
              <a:latin typeface="Times New Roman"/>
              <a:ea typeface="Times New Roman"/>
              <a:cs typeface="Times New Roman"/>
              <a:sym typeface="Times New Roman"/>
            </a:endParaRPr>
          </a:p>
        </p:txBody>
      </p:sp>
      <p:sp>
        <p:nvSpPr>
          <p:cNvPr id="258" name="Google Shape;258;p32"/>
          <p:cNvSpPr/>
          <p:nvPr/>
        </p:nvSpPr>
        <p:spPr>
          <a:xfrm flipH="1">
            <a:off x="434109" y="3248191"/>
            <a:ext cx="8266546" cy="4308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259" name="Google Shape;259;p32"/>
          <p:cNvSpPr/>
          <p:nvPr/>
        </p:nvSpPr>
        <p:spPr>
          <a:xfrm flipH="1">
            <a:off x="498763" y="2690934"/>
            <a:ext cx="8201891"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260" name="Google Shape;260;p32"/>
          <p:cNvSpPr/>
          <p:nvPr/>
        </p:nvSpPr>
        <p:spPr>
          <a:xfrm flipH="1">
            <a:off x="434108" y="3104404"/>
            <a:ext cx="8146473"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261" name="Google Shape;261;p32"/>
          <p:cNvSpPr txBox="1"/>
          <p:nvPr/>
        </p:nvSpPr>
        <p:spPr>
          <a:xfrm>
            <a:off x="624900" y="1267775"/>
            <a:ext cx="7890600" cy="44637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Step 4: Real-Time Traffic &amp; Safety Score</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120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Live traffic data is analyzed using current and free-flow speeds.</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Congestion and road closures contribute to the </a:t>
            </a:r>
            <a:r>
              <a:rPr b="1" lang="en-IN" sz="1800">
                <a:solidFill>
                  <a:schemeClr val="dk1"/>
                </a:solidFill>
                <a:latin typeface="Times New Roman"/>
                <a:ea typeface="Times New Roman"/>
                <a:cs typeface="Times New Roman"/>
                <a:sym typeface="Times New Roman"/>
              </a:rPr>
              <a:t>traffic penalty</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All factors are combined into a </a:t>
            </a:r>
            <a:r>
              <a:rPr b="1" lang="en-IN" sz="1800">
                <a:solidFill>
                  <a:schemeClr val="dk1"/>
                </a:solidFill>
                <a:latin typeface="Times New Roman"/>
                <a:ea typeface="Times New Roman"/>
                <a:cs typeface="Times New Roman"/>
                <a:sym typeface="Times New Roman"/>
              </a:rPr>
              <a:t>1–6 safety score</a:t>
            </a:r>
            <a:r>
              <a:rPr lang="en-IN" sz="1800">
                <a:solidFill>
                  <a:schemeClr val="dk1"/>
                </a:solidFill>
                <a:latin typeface="Times New Roman"/>
                <a:ea typeface="Times New Roman"/>
                <a:cs typeface="Times New Roman"/>
                <a:sym typeface="Times New Roman"/>
              </a:rPr>
              <a:t>, where lower is safer.</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Step 5: Pollution-Aware Route Analysis</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120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Route locations are sampled to obtain </a:t>
            </a:r>
            <a:r>
              <a:rPr b="1" lang="en-IN" sz="1800">
                <a:solidFill>
                  <a:schemeClr val="dk1"/>
                </a:solidFill>
                <a:latin typeface="Times New Roman"/>
                <a:ea typeface="Times New Roman"/>
                <a:cs typeface="Times New Roman"/>
                <a:sym typeface="Times New Roman"/>
              </a:rPr>
              <a:t>AQI data from OpenWeather</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Alternative routes are ranked based on their </a:t>
            </a:r>
            <a:r>
              <a:rPr b="1" lang="en-IN" sz="1800">
                <a:solidFill>
                  <a:schemeClr val="dk1"/>
                </a:solidFill>
                <a:latin typeface="Times New Roman"/>
                <a:ea typeface="Times New Roman"/>
                <a:cs typeface="Times New Roman"/>
                <a:sym typeface="Times New Roman"/>
              </a:rPr>
              <a:t>average pollution level</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The route with the lowest pollution can be selected for healthier travel.</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Step 6: Route Ranking &amp; Recommendation</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120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Routes are ranked according to </a:t>
            </a:r>
            <a:r>
              <a:rPr b="1" lang="en-IN" sz="1800">
                <a:solidFill>
                  <a:schemeClr val="dk1"/>
                </a:solidFill>
                <a:latin typeface="Times New Roman"/>
                <a:ea typeface="Times New Roman"/>
                <a:cs typeface="Times New Roman"/>
                <a:sym typeface="Times New Roman"/>
              </a:rPr>
              <a:t>safety, traffic, and pollution preferences</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The safest route is selected using the </a:t>
            </a:r>
            <a:r>
              <a:rPr b="1" lang="en-IN" sz="1800">
                <a:solidFill>
                  <a:schemeClr val="dk1"/>
                </a:solidFill>
                <a:latin typeface="Times New Roman"/>
                <a:ea typeface="Times New Roman"/>
                <a:cs typeface="Times New Roman"/>
                <a:sym typeface="Times New Roman"/>
              </a:rPr>
              <a:t>lowest safety-risk score</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Char char="●"/>
            </a:pPr>
            <a:r>
              <a:rPr lang="en-IN" sz="1800">
                <a:solidFill>
                  <a:schemeClr val="dk1"/>
                </a:solidFill>
                <a:latin typeface="Times New Roman"/>
                <a:ea typeface="Times New Roman"/>
                <a:cs typeface="Times New Roman"/>
                <a:sym typeface="Times New Roman"/>
              </a:rPr>
              <a:t>The final recommended route and its details are displayed on the </a:t>
            </a:r>
            <a:r>
              <a:rPr b="1" lang="en-IN" sz="1800">
                <a:solidFill>
                  <a:schemeClr val="dk1"/>
                </a:solidFill>
                <a:latin typeface="Times New Roman"/>
                <a:ea typeface="Times New Roman"/>
                <a:cs typeface="Times New Roman"/>
                <a:sym typeface="Times New Roman"/>
              </a:rPr>
              <a:t>interactive map</a:t>
            </a:r>
            <a:r>
              <a:rPr lang="en-IN" sz="1800">
                <a:solidFill>
                  <a:schemeClr val="dk1"/>
                </a:solidFill>
                <a:latin typeface="Times New Roman"/>
                <a:ea typeface="Times New Roman"/>
                <a:cs typeface="Times New Roman"/>
                <a:sym typeface="Times New Roman"/>
              </a:rPr>
              <a:t>.</a:t>
            </a:r>
            <a:endParaRPr b="1" sz="18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logo.png" id="266" name="Google Shape;266;p33"/>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267" name="Google Shape;267;p33"/>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TECHNOLOGY STACK</a:t>
            </a:r>
            <a:endParaRPr sz="3600">
              <a:solidFill>
                <a:srgbClr val="000000"/>
              </a:solidFill>
              <a:latin typeface="Times New Roman"/>
              <a:ea typeface="Times New Roman"/>
              <a:cs typeface="Times New Roman"/>
              <a:sym typeface="Times New Roman"/>
            </a:endParaRPr>
          </a:p>
        </p:txBody>
      </p:sp>
      <p:sp>
        <p:nvSpPr>
          <p:cNvPr id="268" name="Google Shape;268;p33"/>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2</a:t>
            </a:r>
            <a:r>
              <a:rPr b="1" lang="en-IN" sz="1800">
                <a:solidFill>
                  <a:schemeClr val="lt1"/>
                </a:solidFill>
                <a:latin typeface="Times New Roman"/>
                <a:ea typeface="Times New Roman"/>
                <a:cs typeface="Times New Roman"/>
                <a:sym typeface="Times New Roman"/>
              </a:rPr>
              <a:t>1</a:t>
            </a:r>
            <a:endParaRPr b="1" i="0" sz="1800" u="none" cap="none" strike="noStrike">
              <a:solidFill>
                <a:schemeClr val="lt1"/>
              </a:solidFill>
              <a:latin typeface="Times New Roman"/>
              <a:ea typeface="Times New Roman"/>
              <a:cs typeface="Times New Roman"/>
              <a:sym typeface="Times New Roman"/>
            </a:endParaRPr>
          </a:p>
        </p:txBody>
      </p:sp>
      <p:sp>
        <p:nvSpPr>
          <p:cNvPr id="269" name="Google Shape;269;p33"/>
          <p:cNvSpPr/>
          <p:nvPr/>
        </p:nvSpPr>
        <p:spPr>
          <a:xfrm flipH="1">
            <a:off x="434109" y="3248191"/>
            <a:ext cx="8266546" cy="4308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270" name="Google Shape;270;p33"/>
          <p:cNvSpPr/>
          <p:nvPr/>
        </p:nvSpPr>
        <p:spPr>
          <a:xfrm flipH="1">
            <a:off x="498763" y="2690934"/>
            <a:ext cx="8201891"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271" name="Google Shape;271;p33"/>
          <p:cNvSpPr/>
          <p:nvPr/>
        </p:nvSpPr>
        <p:spPr>
          <a:xfrm flipH="1">
            <a:off x="434108" y="3104404"/>
            <a:ext cx="8146473"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272" name="Google Shape;272;p33"/>
          <p:cNvSpPr txBox="1"/>
          <p:nvPr/>
        </p:nvSpPr>
        <p:spPr>
          <a:xfrm>
            <a:off x="434107" y="1480882"/>
            <a:ext cx="45953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1" lang="en-IN"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273" name="Google Shape;273;p33"/>
          <p:cNvSpPr txBox="1"/>
          <p:nvPr>
            <p:ph idx="1" type="body"/>
          </p:nvPr>
        </p:nvSpPr>
        <p:spPr>
          <a:xfrm>
            <a:off x="385325" y="1375000"/>
            <a:ext cx="2499000" cy="435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en-IN" sz="1800">
                <a:latin typeface="Times New Roman"/>
                <a:ea typeface="Times New Roman"/>
                <a:cs typeface="Times New Roman"/>
                <a:sym typeface="Times New Roman"/>
              </a:rPr>
              <a:t>Frontend</a:t>
            </a:r>
            <a:endParaRPr sz="1800">
              <a:latin typeface="Times New Roman"/>
              <a:ea typeface="Times New Roman"/>
              <a:cs typeface="Times New Roman"/>
              <a:sym typeface="Times New Roman"/>
            </a:endParaRPr>
          </a:p>
          <a:p>
            <a:pPr indent="-342900" lvl="0" marL="457200" rtl="0" algn="l">
              <a:lnSpc>
                <a:spcPct val="100000"/>
              </a:lnSpc>
              <a:spcBef>
                <a:spcPts val="1200"/>
              </a:spcBef>
              <a:spcAft>
                <a:spcPts val="0"/>
              </a:spcAft>
              <a:buSzPts val="1800"/>
              <a:buFont typeface="Times New Roman"/>
              <a:buChar char="●"/>
            </a:pPr>
            <a:r>
              <a:rPr lang="en-IN" sz="1800">
                <a:latin typeface="Times New Roman"/>
                <a:ea typeface="Times New Roman"/>
                <a:cs typeface="Times New Roman"/>
                <a:sym typeface="Times New Roman"/>
              </a:rPr>
              <a:t>Reat.js</a:t>
            </a:r>
            <a:endParaRPr sz="1800">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Vite</a:t>
            </a:r>
            <a:endParaRPr sz="1800">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JavaScript</a:t>
            </a:r>
            <a:endParaRPr sz="1800">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Leaflet</a:t>
            </a:r>
            <a:endParaRPr b="1" sz="18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IN" sz="1800">
                <a:latin typeface="Times New Roman"/>
                <a:ea typeface="Times New Roman"/>
                <a:cs typeface="Times New Roman"/>
                <a:sym typeface="Times New Roman"/>
              </a:rPr>
              <a:t>Backend</a:t>
            </a:r>
            <a:endParaRPr sz="1800">
              <a:latin typeface="Times New Roman"/>
              <a:ea typeface="Times New Roman"/>
              <a:cs typeface="Times New Roman"/>
              <a:sym typeface="Times New Roman"/>
            </a:endParaRPr>
          </a:p>
          <a:p>
            <a:pPr indent="-342900" lvl="0" marL="457200" rtl="0" algn="l">
              <a:lnSpc>
                <a:spcPct val="100000"/>
              </a:lnSpc>
              <a:spcBef>
                <a:spcPts val="1200"/>
              </a:spcBef>
              <a:spcAft>
                <a:spcPts val="0"/>
              </a:spcAft>
              <a:buSzPts val="1800"/>
              <a:buFont typeface="Times New Roman"/>
              <a:buChar char="●"/>
            </a:pPr>
            <a:r>
              <a:rPr lang="en-IN" sz="1800">
                <a:latin typeface="Times New Roman"/>
                <a:ea typeface="Times New Roman"/>
                <a:cs typeface="Times New Roman"/>
                <a:sym typeface="Times New Roman"/>
              </a:rPr>
              <a:t>Python</a:t>
            </a:r>
            <a:endParaRPr sz="1800">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Flask</a:t>
            </a:r>
            <a:endParaRPr sz="1800">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Python Requests</a:t>
            </a:r>
            <a:endParaRPr b="1" sz="18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IN" sz="1800">
                <a:latin typeface="Times New Roman"/>
                <a:ea typeface="Times New Roman"/>
                <a:cs typeface="Times New Roman"/>
                <a:sym typeface="Times New Roman"/>
              </a:rPr>
              <a:t>Database</a:t>
            </a:r>
            <a:endParaRPr sz="1800">
              <a:latin typeface="Times New Roman"/>
              <a:ea typeface="Times New Roman"/>
              <a:cs typeface="Times New Roman"/>
              <a:sym typeface="Times New Roman"/>
            </a:endParaRPr>
          </a:p>
          <a:p>
            <a:pPr indent="-342900" lvl="0" marL="457200" rtl="0" algn="l">
              <a:lnSpc>
                <a:spcPct val="100000"/>
              </a:lnSpc>
              <a:spcBef>
                <a:spcPts val="1200"/>
              </a:spcBef>
              <a:spcAft>
                <a:spcPts val="0"/>
              </a:spcAft>
              <a:buSzPts val="1800"/>
              <a:buFont typeface="Times New Roman"/>
              <a:buChar char="●"/>
            </a:pPr>
            <a:r>
              <a:rPr lang="en-IN" sz="1800">
                <a:latin typeface="Times New Roman"/>
                <a:ea typeface="Times New Roman"/>
                <a:cs typeface="Times New Roman"/>
                <a:sym typeface="Times New Roman"/>
              </a:rPr>
              <a:t>MongoDB</a:t>
            </a:r>
            <a:endParaRPr sz="1800">
              <a:latin typeface="Times New Roman"/>
              <a:ea typeface="Times New Roman"/>
              <a:cs typeface="Times New Roman"/>
              <a:sym typeface="Times New Roman"/>
            </a:endParaRPr>
          </a:p>
          <a:p>
            <a:pPr indent="-342900" lvl="0" marL="457200" rtl="0" algn="l">
              <a:lnSpc>
                <a:spcPct val="100000"/>
              </a:lnSpc>
              <a:spcBef>
                <a:spcPts val="1200"/>
              </a:spcBef>
              <a:spcAft>
                <a:spcPts val="0"/>
              </a:spcAft>
              <a:buSzPts val="1800"/>
              <a:buFont typeface="Times New Roman"/>
              <a:buChar char="●"/>
            </a:pPr>
            <a:r>
              <a:rPr lang="en-IN" sz="1800">
                <a:latin typeface="Times New Roman"/>
                <a:ea typeface="Times New Roman"/>
                <a:cs typeface="Times New Roman"/>
                <a:sym typeface="Times New Roman"/>
              </a:rPr>
              <a:t>PyMongo</a:t>
            </a:r>
            <a:endParaRPr sz="18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600"/>
              <a:buNone/>
            </a:pPr>
            <a:r>
              <a:t/>
            </a:r>
            <a:endParaRPr sz="18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600"/>
              <a:buNone/>
            </a:pPr>
            <a:r>
              <a:t/>
            </a:r>
            <a:endParaRPr sz="1800">
              <a:latin typeface="Times New Roman"/>
              <a:ea typeface="Times New Roman"/>
              <a:cs typeface="Times New Roman"/>
              <a:sym typeface="Times New Roman"/>
            </a:endParaRPr>
          </a:p>
        </p:txBody>
      </p:sp>
      <p:sp>
        <p:nvSpPr>
          <p:cNvPr id="274" name="Google Shape;274;p33"/>
          <p:cNvSpPr txBox="1"/>
          <p:nvPr>
            <p:ph idx="2" type="body"/>
          </p:nvPr>
        </p:nvSpPr>
        <p:spPr>
          <a:xfrm>
            <a:off x="2884325" y="1375000"/>
            <a:ext cx="6144900" cy="4696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IN" sz="1800">
                <a:latin typeface="Times New Roman"/>
                <a:ea typeface="Times New Roman"/>
                <a:cs typeface="Times New Roman"/>
                <a:sym typeface="Times New Roman"/>
              </a:rPr>
              <a:t>APIs &amp; External Services</a:t>
            </a:r>
            <a:endParaRPr b="1"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OpenRouteService API – Route generation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TomTom Traffic API – Real-time traffic information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OpenWeather Air Pollution API – AQI and pollution data</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OpenStreetMap Overpass API – Nearby places and lighting information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Unsplash API – Location-related images</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800">
                <a:latin typeface="Times New Roman"/>
                <a:ea typeface="Times New Roman"/>
                <a:cs typeface="Times New Roman"/>
                <a:sym typeface="Times New Roman"/>
              </a:rPr>
              <a:t>Map &amp; Route Processing</a:t>
            </a:r>
            <a:endParaRPr b="1"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OpenStreetMap</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Leaflet</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Route Geometry / Polyline Processing</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Safety &amp; Pollution Scoring</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800">
                <a:latin typeface="Times New Roman"/>
                <a:ea typeface="Times New Roman"/>
                <a:cs typeface="Times New Roman"/>
                <a:sym typeface="Times New Roman"/>
              </a:rPr>
              <a:t>Development &amp; Version Control</a:t>
            </a:r>
            <a:endParaRPr b="1"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Visual Studio Code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GitHub &amp; Git</a:t>
            </a:r>
            <a:endParaRPr sz="18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logo.png" id="279" name="Google Shape;279;p34"/>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280" name="Google Shape;280;p34"/>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FUTURE SCOPE</a:t>
            </a:r>
            <a:endParaRPr sz="3600">
              <a:solidFill>
                <a:srgbClr val="000000"/>
              </a:solidFill>
              <a:latin typeface="Times New Roman"/>
              <a:ea typeface="Times New Roman"/>
              <a:cs typeface="Times New Roman"/>
              <a:sym typeface="Times New Roman"/>
            </a:endParaRPr>
          </a:p>
        </p:txBody>
      </p:sp>
      <p:sp>
        <p:nvSpPr>
          <p:cNvPr id="281" name="Google Shape;281;p34"/>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2</a:t>
            </a:r>
            <a:r>
              <a:rPr b="1" lang="en-IN" sz="1800">
                <a:solidFill>
                  <a:schemeClr val="lt1"/>
                </a:solidFill>
                <a:latin typeface="Times New Roman"/>
                <a:ea typeface="Times New Roman"/>
                <a:cs typeface="Times New Roman"/>
                <a:sym typeface="Times New Roman"/>
              </a:rPr>
              <a:t>2</a:t>
            </a:r>
            <a:endParaRPr b="1" i="0" sz="1800" u="none" cap="none" strike="noStrike">
              <a:solidFill>
                <a:schemeClr val="lt1"/>
              </a:solidFill>
              <a:latin typeface="Times New Roman"/>
              <a:ea typeface="Times New Roman"/>
              <a:cs typeface="Times New Roman"/>
              <a:sym typeface="Times New Roman"/>
            </a:endParaRPr>
          </a:p>
        </p:txBody>
      </p:sp>
      <p:sp>
        <p:nvSpPr>
          <p:cNvPr id="282" name="Google Shape;282;p34"/>
          <p:cNvSpPr/>
          <p:nvPr/>
        </p:nvSpPr>
        <p:spPr>
          <a:xfrm flipH="1">
            <a:off x="434109" y="3248191"/>
            <a:ext cx="8266546" cy="4308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283" name="Google Shape;283;p34"/>
          <p:cNvSpPr/>
          <p:nvPr/>
        </p:nvSpPr>
        <p:spPr>
          <a:xfrm flipH="1">
            <a:off x="498763" y="2690934"/>
            <a:ext cx="8201891"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284" name="Google Shape;284;p34"/>
          <p:cNvSpPr/>
          <p:nvPr/>
        </p:nvSpPr>
        <p:spPr>
          <a:xfrm flipH="1">
            <a:off x="434108" y="3104404"/>
            <a:ext cx="8146473"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285" name="Google Shape;285;p34"/>
          <p:cNvSpPr/>
          <p:nvPr/>
        </p:nvSpPr>
        <p:spPr>
          <a:xfrm>
            <a:off x="434107" y="1366982"/>
            <a:ext cx="8405093" cy="461665"/>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IN" sz="2400">
                <a:solidFill>
                  <a:schemeClr val="dk1"/>
                </a:solidFill>
                <a:latin typeface="Times New Roman"/>
                <a:ea typeface="Times New Roman"/>
                <a:cs typeface="Times New Roman"/>
                <a:sym typeface="Times New Roman"/>
              </a:rPr>
              <a:t> </a:t>
            </a:r>
            <a:endParaRPr sz="2300">
              <a:solidFill>
                <a:schemeClr val="dk1"/>
              </a:solidFill>
              <a:latin typeface="Times New Roman"/>
              <a:ea typeface="Times New Roman"/>
              <a:cs typeface="Times New Roman"/>
              <a:sym typeface="Times New Roman"/>
            </a:endParaRPr>
          </a:p>
        </p:txBody>
      </p:sp>
      <p:sp>
        <p:nvSpPr>
          <p:cNvPr id="286" name="Google Shape;286;p34"/>
          <p:cNvSpPr txBox="1"/>
          <p:nvPr/>
        </p:nvSpPr>
        <p:spPr>
          <a:xfrm>
            <a:off x="368875" y="1397775"/>
            <a:ext cx="8146500" cy="4248300"/>
          </a:xfrm>
          <a:prstGeom prst="rect">
            <a:avLst/>
          </a:prstGeom>
          <a:noFill/>
          <a:ln>
            <a:noFill/>
          </a:ln>
        </p:spPr>
        <p:txBody>
          <a:bodyPr anchorCtr="0" anchor="t" bIns="45700" lIns="91425" spcFirstLastPara="1" rIns="91425" wrap="square" tIns="45700">
            <a:spAutoFit/>
          </a:bodyPr>
          <a:lstStyle/>
          <a:p>
            <a:pPr indent="-342900" lvl="0" marL="457200" rtl="0" algn="l">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Machine Learning-Based Safety Prediction:</a:t>
            </a:r>
            <a:endParaRPr b="1" sz="18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IN" sz="1800">
                <a:solidFill>
                  <a:schemeClr val="dk1"/>
                </a:solidFill>
                <a:latin typeface="Times New Roman"/>
                <a:ea typeface="Times New Roman"/>
                <a:cs typeface="Times New Roman"/>
                <a:sym typeface="Times New Roman"/>
              </a:rPr>
              <a:t>Replace the current rule-based safety mechanism with a trained ML model using historical crime, traffic, infrastructure, lighting, and environmental data. </a:t>
            </a:r>
            <a:endParaRPr sz="1800">
              <a:solidFill>
                <a:schemeClr val="dk1"/>
              </a:solidFill>
              <a:latin typeface="Times New Roman"/>
              <a:ea typeface="Times New Roman"/>
              <a:cs typeface="Times New Roman"/>
              <a:sym typeface="Times New Roman"/>
            </a:endParaRPr>
          </a:p>
          <a:p>
            <a:pPr indent="-342900" lvl="0" marL="457200" marR="0" rtl="0" algn="l">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Unsafe-Zone Alerts &amp; Automatic Rerouting:</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Notify users when they enter a potentially unsafe area and automatically generate a safer alternative route. </a:t>
            </a:r>
            <a:endParaRPr sz="1800">
              <a:solidFill>
                <a:schemeClr val="dk1"/>
              </a:solidFill>
              <a:latin typeface="Times New Roman"/>
              <a:ea typeface="Times New Roman"/>
              <a:cs typeface="Times New Roman"/>
              <a:sym typeface="Times New Roman"/>
            </a:endParaRPr>
          </a:p>
          <a:p>
            <a:pPr indent="-342900" lvl="0" marL="457200" marR="0" rtl="0" algn="l">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Emergency SOS &amp; Accident Detection:</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Integrate an SOS feature and automatic accident detection to provide faster emergency assistance when required. </a:t>
            </a:r>
            <a:endParaRPr sz="1800">
              <a:solidFill>
                <a:schemeClr val="dk1"/>
              </a:solidFill>
              <a:latin typeface="Times New Roman"/>
              <a:ea typeface="Times New Roman"/>
              <a:cs typeface="Times New Roman"/>
              <a:sym typeface="Times New Roman"/>
            </a:endParaRPr>
          </a:p>
          <a:p>
            <a:pPr indent="-342900" lvl="0" marL="457200" marR="0" rtl="0" algn="l">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CCTV &amp; Smart City Integration:</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Integrate CCTV and other smart-city infrastructure to provide additional real-time insights about roads and surrounding areas.</a:t>
            </a:r>
            <a:endParaRPr sz="1800">
              <a:solidFill>
                <a:schemeClr val="dk1"/>
              </a:solidFill>
              <a:latin typeface="Times New Roman"/>
              <a:ea typeface="Times New Roman"/>
              <a:cs typeface="Times New Roman"/>
              <a:sym typeface="Times New Roman"/>
            </a:endParaRPr>
          </a:p>
          <a:p>
            <a:pPr indent="-342900" lvl="0" marL="457200" marR="0" rtl="0" algn="l">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Public Transport &amp; Cab Integration:</a:t>
            </a:r>
            <a:br>
              <a:rPr b="1" lang="en-IN" sz="1800">
                <a:solidFill>
                  <a:schemeClr val="dk1"/>
                </a:solidFill>
                <a:latin typeface="Times New Roman"/>
                <a:ea typeface="Times New Roman"/>
                <a:cs typeface="Times New Roman"/>
                <a:sym typeface="Times New Roman"/>
              </a:rPr>
            </a:br>
            <a:r>
              <a:rPr lang="en-IN" sz="1800">
                <a:solidFill>
                  <a:schemeClr val="dk1"/>
                </a:solidFill>
                <a:latin typeface="Times New Roman"/>
                <a:ea typeface="Times New Roman"/>
                <a:cs typeface="Times New Roman"/>
                <a:sym typeface="Times New Roman"/>
              </a:rPr>
              <a:t>Integrate public transportation and cab services to extend SmartMaps from route recommendation into </a:t>
            </a:r>
            <a:r>
              <a:rPr b="1" lang="en-IN" sz="1800">
                <a:solidFill>
                  <a:schemeClr val="dk1"/>
                </a:solidFill>
                <a:latin typeface="Times New Roman"/>
                <a:ea typeface="Times New Roman"/>
                <a:cs typeface="Times New Roman"/>
                <a:sym typeface="Times New Roman"/>
              </a:rPr>
              <a:t>complete journey safety monitoring</a:t>
            </a:r>
            <a:r>
              <a:rPr lang="en-I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logo.png" id="291" name="Google Shape;291;p35"/>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292" name="Google Shape;292;p35"/>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RESULTS</a:t>
            </a:r>
            <a:endParaRPr sz="3600">
              <a:solidFill>
                <a:srgbClr val="000000"/>
              </a:solidFill>
              <a:latin typeface="Times New Roman"/>
              <a:ea typeface="Times New Roman"/>
              <a:cs typeface="Times New Roman"/>
              <a:sym typeface="Times New Roman"/>
            </a:endParaRPr>
          </a:p>
        </p:txBody>
      </p:sp>
      <p:sp>
        <p:nvSpPr>
          <p:cNvPr id="293" name="Google Shape;293;p35"/>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2</a:t>
            </a:r>
            <a:r>
              <a:rPr b="1" lang="en-IN" sz="1800">
                <a:solidFill>
                  <a:schemeClr val="lt1"/>
                </a:solidFill>
                <a:latin typeface="Times New Roman"/>
                <a:ea typeface="Times New Roman"/>
                <a:cs typeface="Times New Roman"/>
                <a:sym typeface="Times New Roman"/>
              </a:rPr>
              <a:t>3</a:t>
            </a:r>
            <a:endParaRPr b="1" i="0" sz="1800" u="none" cap="none" strike="noStrike">
              <a:solidFill>
                <a:schemeClr val="lt1"/>
              </a:solidFill>
              <a:latin typeface="Times New Roman"/>
              <a:ea typeface="Times New Roman"/>
              <a:cs typeface="Times New Roman"/>
              <a:sym typeface="Times New Roman"/>
            </a:endParaRPr>
          </a:p>
        </p:txBody>
      </p:sp>
      <p:pic>
        <p:nvPicPr>
          <p:cNvPr id="294" name="Google Shape;294;p35" title="Screenshot 2026-08-10 200939.png"/>
          <p:cNvPicPr preferRelativeResize="0"/>
          <p:nvPr/>
        </p:nvPicPr>
        <p:blipFill>
          <a:blip r:embed="rId4">
            <a:alphaModFix/>
          </a:blip>
          <a:stretch>
            <a:fillRect/>
          </a:stretch>
        </p:blipFill>
        <p:spPr>
          <a:xfrm>
            <a:off x="136500" y="1934000"/>
            <a:ext cx="4212826" cy="3166476"/>
          </a:xfrm>
          <a:prstGeom prst="rect">
            <a:avLst/>
          </a:prstGeom>
          <a:noFill/>
          <a:ln>
            <a:noFill/>
          </a:ln>
        </p:spPr>
      </p:pic>
      <p:pic>
        <p:nvPicPr>
          <p:cNvPr id="295" name="Google Shape;295;p35" title="Screenshot 2026-08-10 200956.png"/>
          <p:cNvPicPr preferRelativeResize="0"/>
          <p:nvPr/>
        </p:nvPicPr>
        <p:blipFill>
          <a:blip r:embed="rId5">
            <a:alphaModFix/>
          </a:blip>
          <a:stretch>
            <a:fillRect/>
          </a:stretch>
        </p:blipFill>
        <p:spPr>
          <a:xfrm>
            <a:off x="4485775" y="1934000"/>
            <a:ext cx="4473974" cy="31664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descr="logo.png" id="300" name="Google Shape;300;p36"/>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301" name="Google Shape;301;p36"/>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RESULTS</a:t>
            </a:r>
            <a:endParaRPr sz="3600">
              <a:solidFill>
                <a:srgbClr val="000000"/>
              </a:solidFill>
              <a:latin typeface="Times New Roman"/>
              <a:ea typeface="Times New Roman"/>
              <a:cs typeface="Times New Roman"/>
              <a:sym typeface="Times New Roman"/>
            </a:endParaRPr>
          </a:p>
        </p:txBody>
      </p:sp>
      <p:sp>
        <p:nvSpPr>
          <p:cNvPr id="302" name="Google Shape;302;p36"/>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a:t>
            </a:r>
            <a:r>
              <a:rPr b="1" lang="en-IN" sz="1800">
                <a:solidFill>
                  <a:schemeClr val="lt1"/>
                </a:solidFill>
                <a:latin typeface="Times New Roman"/>
                <a:ea typeface="Times New Roman"/>
                <a:cs typeface="Times New Roman"/>
                <a:sym typeface="Times New Roman"/>
              </a:rPr>
              <a:t>24</a:t>
            </a:r>
            <a:endParaRPr b="1" i="0" sz="1800" u="none" cap="none" strike="noStrike">
              <a:solidFill>
                <a:schemeClr val="lt1"/>
              </a:solidFill>
              <a:latin typeface="Times New Roman"/>
              <a:ea typeface="Times New Roman"/>
              <a:cs typeface="Times New Roman"/>
              <a:sym typeface="Times New Roman"/>
            </a:endParaRPr>
          </a:p>
        </p:txBody>
      </p:sp>
      <p:sp>
        <p:nvSpPr>
          <p:cNvPr id="303" name="Google Shape;303;p36"/>
          <p:cNvSpPr/>
          <p:nvPr/>
        </p:nvSpPr>
        <p:spPr>
          <a:xfrm flipH="1">
            <a:off x="434109" y="3248191"/>
            <a:ext cx="8266546" cy="4308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304" name="Google Shape;304;p36"/>
          <p:cNvSpPr/>
          <p:nvPr/>
        </p:nvSpPr>
        <p:spPr>
          <a:xfrm flipH="1">
            <a:off x="498763" y="2690934"/>
            <a:ext cx="8201891"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pic>
        <p:nvPicPr>
          <p:cNvPr id="305" name="Google Shape;305;p36" title="Screenshot 2026-08-10 201114.png"/>
          <p:cNvPicPr preferRelativeResize="0"/>
          <p:nvPr/>
        </p:nvPicPr>
        <p:blipFill rotWithShape="1">
          <a:blip r:embed="rId4">
            <a:alphaModFix/>
          </a:blip>
          <a:srcRect b="9449" l="9924" r="10497" t="12523"/>
          <a:stretch/>
        </p:blipFill>
        <p:spPr>
          <a:xfrm>
            <a:off x="424608" y="1483825"/>
            <a:ext cx="4171066" cy="2300551"/>
          </a:xfrm>
          <a:prstGeom prst="rect">
            <a:avLst/>
          </a:prstGeom>
          <a:noFill/>
          <a:ln>
            <a:noFill/>
          </a:ln>
        </p:spPr>
      </p:pic>
      <p:pic>
        <p:nvPicPr>
          <p:cNvPr id="306" name="Google Shape;306;p36" title="Screenshot 2026-08-10 201154.png"/>
          <p:cNvPicPr preferRelativeResize="0"/>
          <p:nvPr/>
        </p:nvPicPr>
        <p:blipFill rotWithShape="1">
          <a:blip r:embed="rId5">
            <a:alphaModFix/>
          </a:blip>
          <a:srcRect b="7196" l="11295" r="10969" t="7850"/>
          <a:stretch/>
        </p:blipFill>
        <p:spPr>
          <a:xfrm>
            <a:off x="4773250" y="1483825"/>
            <a:ext cx="3742099" cy="2300546"/>
          </a:xfrm>
          <a:prstGeom prst="rect">
            <a:avLst/>
          </a:prstGeom>
          <a:noFill/>
          <a:ln>
            <a:noFill/>
          </a:ln>
        </p:spPr>
      </p:pic>
      <p:pic>
        <p:nvPicPr>
          <p:cNvPr id="307" name="Google Shape;307;p36" title="Screenshot 2026-08-10 201143.png"/>
          <p:cNvPicPr preferRelativeResize="0"/>
          <p:nvPr/>
        </p:nvPicPr>
        <p:blipFill rotWithShape="1">
          <a:blip r:embed="rId6">
            <a:alphaModFix/>
          </a:blip>
          <a:srcRect b="16617" l="7919" r="9423" t="15559"/>
          <a:stretch/>
        </p:blipFill>
        <p:spPr>
          <a:xfrm>
            <a:off x="2214138" y="3880713"/>
            <a:ext cx="4771157" cy="22020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descr="logo.png" id="312" name="Google Shape;312;p37"/>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313" name="Google Shape;313;p37"/>
          <p:cNvSpPr txBox="1"/>
          <p:nvPr/>
        </p:nvSpPr>
        <p:spPr>
          <a:xfrm>
            <a:off x="1215022" y="320863"/>
            <a:ext cx="7300200" cy="8574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RESULTS</a:t>
            </a:r>
            <a:endParaRPr sz="3600">
              <a:solidFill>
                <a:srgbClr val="000000"/>
              </a:solidFill>
              <a:latin typeface="Times New Roman"/>
              <a:ea typeface="Times New Roman"/>
              <a:cs typeface="Times New Roman"/>
              <a:sym typeface="Times New Roman"/>
            </a:endParaRPr>
          </a:p>
        </p:txBody>
      </p:sp>
      <p:sp>
        <p:nvSpPr>
          <p:cNvPr id="314" name="Google Shape;314;p37"/>
          <p:cNvSpPr txBox="1"/>
          <p:nvPr/>
        </p:nvSpPr>
        <p:spPr>
          <a:xfrm>
            <a:off x="0" y="6179127"/>
            <a:ext cx="9171600" cy="6789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a:t>
            </a:r>
            <a:r>
              <a:rPr b="1" lang="en-IN" sz="1800">
                <a:solidFill>
                  <a:schemeClr val="lt1"/>
                </a:solidFill>
                <a:latin typeface="Times New Roman"/>
                <a:ea typeface="Times New Roman"/>
                <a:cs typeface="Times New Roman"/>
                <a:sym typeface="Times New Roman"/>
              </a:rPr>
              <a:t>25</a:t>
            </a:r>
            <a:endParaRPr b="1" i="0" sz="1800" u="none" cap="none" strike="noStrike">
              <a:solidFill>
                <a:schemeClr val="lt1"/>
              </a:solidFill>
              <a:latin typeface="Times New Roman"/>
              <a:ea typeface="Times New Roman"/>
              <a:cs typeface="Times New Roman"/>
              <a:sym typeface="Times New Roman"/>
            </a:endParaRPr>
          </a:p>
        </p:txBody>
      </p:sp>
      <p:sp>
        <p:nvSpPr>
          <p:cNvPr id="315" name="Google Shape;315;p37"/>
          <p:cNvSpPr/>
          <p:nvPr/>
        </p:nvSpPr>
        <p:spPr>
          <a:xfrm flipH="1">
            <a:off x="434155" y="3248191"/>
            <a:ext cx="8266500" cy="430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316" name="Google Shape;316;p37"/>
          <p:cNvSpPr/>
          <p:nvPr/>
        </p:nvSpPr>
        <p:spPr>
          <a:xfrm flipH="1">
            <a:off x="498654" y="2690934"/>
            <a:ext cx="8202000" cy="4464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pic>
        <p:nvPicPr>
          <p:cNvPr id="317" name="Google Shape;317;p37" title="Screenshot 2026-08-10 201227.png"/>
          <p:cNvPicPr preferRelativeResize="0"/>
          <p:nvPr/>
        </p:nvPicPr>
        <p:blipFill>
          <a:blip r:embed="rId4">
            <a:alphaModFix/>
          </a:blip>
          <a:stretch>
            <a:fillRect/>
          </a:stretch>
        </p:blipFill>
        <p:spPr>
          <a:xfrm>
            <a:off x="286325" y="1994525"/>
            <a:ext cx="4189973" cy="3042325"/>
          </a:xfrm>
          <a:prstGeom prst="rect">
            <a:avLst/>
          </a:prstGeom>
          <a:noFill/>
          <a:ln>
            <a:noFill/>
          </a:ln>
        </p:spPr>
      </p:pic>
      <p:pic>
        <p:nvPicPr>
          <p:cNvPr id="318" name="Google Shape;318;p37" title="Screenshot 2026-08-10 201249.png"/>
          <p:cNvPicPr preferRelativeResize="0"/>
          <p:nvPr/>
        </p:nvPicPr>
        <p:blipFill>
          <a:blip r:embed="rId5">
            <a:alphaModFix/>
          </a:blip>
          <a:stretch>
            <a:fillRect/>
          </a:stretch>
        </p:blipFill>
        <p:spPr>
          <a:xfrm>
            <a:off x="4607525" y="1994525"/>
            <a:ext cx="4189973" cy="304233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logo.png" id="323" name="Google Shape;323;p38"/>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324" name="Google Shape;324;p38"/>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RESULTS</a:t>
            </a:r>
            <a:endParaRPr sz="3600">
              <a:solidFill>
                <a:srgbClr val="000000"/>
              </a:solidFill>
              <a:latin typeface="Times New Roman"/>
              <a:ea typeface="Times New Roman"/>
              <a:cs typeface="Times New Roman"/>
              <a:sym typeface="Times New Roman"/>
            </a:endParaRPr>
          </a:p>
        </p:txBody>
      </p:sp>
      <p:sp>
        <p:nvSpPr>
          <p:cNvPr id="325" name="Google Shape;325;p38"/>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2</a:t>
            </a:r>
            <a:r>
              <a:rPr b="1" lang="en-IN" sz="1800">
                <a:solidFill>
                  <a:schemeClr val="lt1"/>
                </a:solidFill>
                <a:latin typeface="Times New Roman"/>
                <a:ea typeface="Times New Roman"/>
                <a:cs typeface="Times New Roman"/>
                <a:sym typeface="Times New Roman"/>
              </a:rPr>
              <a:t>6</a:t>
            </a:r>
            <a:endParaRPr b="1" i="0" sz="1800" u="none" cap="none" strike="noStrike">
              <a:solidFill>
                <a:schemeClr val="lt1"/>
              </a:solidFill>
              <a:latin typeface="Times New Roman"/>
              <a:ea typeface="Times New Roman"/>
              <a:cs typeface="Times New Roman"/>
              <a:sym typeface="Times New Roman"/>
            </a:endParaRPr>
          </a:p>
        </p:txBody>
      </p:sp>
      <p:pic>
        <p:nvPicPr>
          <p:cNvPr id="326" name="Google Shape;326;p38" title="Screenshot 2026-08-10 201507.png"/>
          <p:cNvPicPr preferRelativeResize="0"/>
          <p:nvPr/>
        </p:nvPicPr>
        <p:blipFill>
          <a:blip r:embed="rId4">
            <a:alphaModFix/>
          </a:blip>
          <a:stretch>
            <a:fillRect/>
          </a:stretch>
        </p:blipFill>
        <p:spPr>
          <a:xfrm>
            <a:off x="126675" y="1178125"/>
            <a:ext cx="8890656" cy="50009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descr="logo.png" id="331" name="Google Shape;331;p39"/>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332" name="Google Shape;332;p39"/>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RESULTS</a:t>
            </a:r>
            <a:endParaRPr sz="3600">
              <a:solidFill>
                <a:srgbClr val="000000"/>
              </a:solidFill>
              <a:latin typeface="Times New Roman"/>
              <a:ea typeface="Times New Roman"/>
              <a:cs typeface="Times New Roman"/>
              <a:sym typeface="Times New Roman"/>
            </a:endParaRPr>
          </a:p>
        </p:txBody>
      </p:sp>
      <p:sp>
        <p:nvSpPr>
          <p:cNvPr id="333" name="Google Shape;333;p39"/>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2</a:t>
            </a:r>
            <a:r>
              <a:rPr b="1" lang="en-IN" sz="1800">
                <a:solidFill>
                  <a:schemeClr val="lt1"/>
                </a:solidFill>
                <a:latin typeface="Times New Roman"/>
                <a:ea typeface="Times New Roman"/>
                <a:cs typeface="Times New Roman"/>
                <a:sym typeface="Times New Roman"/>
              </a:rPr>
              <a:t>7</a:t>
            </a:r>
            <a:endParaRPr b="1" i="0" sz="1800" u="none" cap="none" strike="noStrike">
              <a:solidFill>
                <a:schemeClr val="lt1"/>
              </a:solidFill>
              <a:latin typeface="Times New Roman"/>
              <a:ea typeface="Times New Roman"/>
              <a:cs typeface="Times New Roman"/>
              <a:sym typeface="Times New Roman"/>
            </a:endParaRPr>
          </a:p>
        </p:txBody>
      </p:sp>
      <p:pic>
        <p:nvPicPr>
          <p:cNvPr id="334" name="Google Shape;334;p39" title="Screenshot 2026-08-10 201545.png"/>
          <p:cNvPicPr preferRelativeResize="0"/>
          <p:nvPr/>
        </p:nvPicPr>
        <p:blipFill>
          <a:blip r:embed="rId4">
            <a:alphaModFix/>
          </a:blip>
          <a:stretch>
            <a:fillRect/>
          </a:stretch>
        </p:blipFill>
        <p:spPr>
          <a:xfrm>
            <a:off x="262125" y="1254325"/>
            <a:ext cx="8619758" cy="48486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descr="logo.png" id="339" name="Google Shape;339;p40"/>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340" name="Google Shape;340;p40"/>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RESULTS</a:t>
            </a:r>
            <a:endParaRPr sz="3600">
              <a:solidFill>
                <a:srgbClr val="000000"/>
              </a:solidFill>
              <a:latin typeface="Times New Roman"/>
              <a:ea typeface="Times New Roman"/>
              <a:cs typeface="Times New Roman"/>
              <a:sym typeface="Times New Roman"/>
            </a:endParaRPr>
          </a:p>
        </p:txBody>
      </p:sp>
      <p:sp>
        <p:nvSpPr>
          <p:cNvPr id="341" name="Google Shape;341;p40"/>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2</a:t>
            </a:r>
            <a:r>
              <a:rPr b="1" lang="en-IN" sz="1800">
                <a:solidFill>
                  <a:schemeClr val="lt1"/>
                </a:solidFill>
                <a:latin typeface="Times New Roman"/>
                <a:ea typeface="Times New Roman"/>
                <a:cs typeface="Times New Roman"/>
                <a:sym typeface="Times New Roman"/>
              </a:rPr>
              <a:t>8</a:t>
            </a:r>
            <a:endParaRPr b="1" i="0" sz="1800" u="none" cap="none" strike="noStrike">
              <a:solidFill>
                <a:schemeClr val="lt1"/>
              </a:solidFill>
              <a:latin typeface="Times New Roman"/>
              <a:ea typeface="Times New Roman"/>
              <a:cs typeface="Times New Roman"/>
              <a:sym typeface="Times New Roman"/>
            </a:endParaRPr>
          </a:p>
        </p:txBody>
      </p:sp>
      <p:pic>
        <p:nvPicPr>
          <p:cNvPr id="342" name="Google Shape;342;p40" title="Screenshot 2026-08-10 201734.png"/>
          <p:cNvPicPr preferRelativeResize="0"/>
          <p:nvPr/>
        </p:nvPicPr>
        <p:blipFill>
          <a:blip r:embed="rId4">
            <a:alphaModFix/>
          </a:blip>
          <a:stretch>
            <a:fillRect/>
          </a:stretch>
        </p:blipFill>
        <p:spPr>
          <a:xfrm>
            <a:off x="275975" y="1254325"/>
            <a:ext cx="8619758" cy="48486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descr="logo.png" id="347" name="Google Shape;347;p41"/>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348" name="Google Shape;348;p41"/>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RESULTS</a:t>
            </a:r>
            <a:endParaRPr sz="3600">
              <a:solidFill>
                <a:srgbClr val="000000"/>
              </a:solidFill>
              <a:latin typeface="Times New Roman"/>
              <a:ea typeface="Times New Roman"/>
              <a:cs typeface="Times New Roman"/>
              <a:sym typeface="Times New Roman"/>
            </a:endParaRPr>
          </a:p>
        </p:txBody>
      </p:sp>
      <p:sp>
        <p:nvSpPr>
          <p:cNvPr id="349" name="Google Shape;349;p41"/>
          <p:cNvSpPr txBox="1"/>
          <p:nvPr/>
        </p:nvSpPr>
        <p:spPr>
          <a:xfrm>
            <a:off x="0" y="6179127"/>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Department of Computer Science &amp; Engineering                                 </a:t>
            </a:r>
            <a:r>
              <a:rPr b="1" lang="en-IN" sz="1800">
                <a:solidFill>
                  <a:schemeClr val="lt1"/>
                </a:solidFill>
                <a:latin typeface="Times New Roman"/>
                <a:ea typeface="Times New Roman"/>
                <a:cs typeface="Times New Roman"/>
                <a:sym typeface="Times New Roman"/>
              </a:rPr>
              <a:t>29</a:t>
            </a:r>
            <a:endParaRPr b="1" i="0" sz="1800" u="none" cap="none" strike="noStrike">
              <a:solidFill>
                <a:schemeClr val="lt1"/>
              </a:solidFill>
              <a:latin typeface="Times New Roman"/>
              <a:ea typeface="Times New Roman"/>
              <a:cs typeface="Times New Roman"/>
              <a:sym typeface="Times New Roman"/>
            </a:endParaRPr>
          </a:p>
        </p:txBody>
      </p:sp>
      <p:pic>
        <p:nvPicPr>
          <p:cNvPr id="350" name="Google Shape;350;p41" title="Screenshot 2026-08-10 201744.png"/>
          <p:cNvPicPr preferRelativeResize="0"/>
          <p:nvPr/>
        </p:nvPicPr>
        <p:blipFill>
          <a:blip r:embed="rId4">
            <a:alphaModFix/>
          </a:blip>
          <a:stretch>
            <a:fillRect/>
          </a:stretch>
        </p:blipFill>
        <p:spPr>
          <a:xfrm>
            <a:off x="262125" y="1254325"/>
            <a:ext cx="8619758" cy="48486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descr="logo.png" id="355" name="Google Shape;355;p42"/>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356" name="Google Shape;356;p42"/>
          <p:cNvSpPr txBox="1"/>
          <p:nvPr/>
        </p:nvSpPr>
        <p:spPr>
          <a:xfrm>
            <a:off x="1215022" y="320863"/>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CONCLUSION</a:t>
            </a:r>
            <a:endParaRPr sz="3600">
              <a:solidFill>
                <a:srgbClr val="000000"/>
              </a:solidFill>
              <a:latin typeface="Times New Roman"/>
              <a:ea typeface="Times New Roman"/>
              <a:cs typeface="Times New Roman"/>
              <a:sym typeface="Times New Roman"/>
            </a:endParaRPr>
          </a:p>
        </p:txBody>
      </p:sp>
      <p:sp>
        <p:nvSpPr>
          <p:cNvPr id="357" name="Google Shape;357;p42"/>
          <p:cNvSpPr txBox="1"/>
          <p:nvPr/>
        </p:nvSpPr>
        <p:spPr>
          <a:xfrm>
            <a:off x="0" y="6206836"/>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IN" sz="1800">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a:t>
            </a:r>
            <a:r>
              <a:rPr b="1" lang="en-IN" sz="1800">
                <a:solidFill>
                  <a:schemeClr val="lt1"/>
                </a:solidFill>
                <a:latin typeface="Times New Roman"/>
                <a:ea typeface="Times New Roman"/>
                <a:cs typeface="Times New Roman"/>
                <a:sym typeface="Times New Roman"/>
              </a:rPr>
              <a:t>30</a:t>
            </a:r>
            <a:endParaRPr b="1" i="0" sz="1800" u="none" cap="none" strike="noStrike">
              <a:solidFill>
                <a:schemeClr val="lt1"/>
              </a:solidFill>
              <a:latin typeface="Times New Roman"/>
              <a:ea typeface="Times New Roman"/>
              <a:cs typeface="Times New Roman"/>
              <a:sym typeface="Times New Roman"/>
            </a:endParaRPr>
          </a:p>
        </p:txBody>
      </p:sp>
      <p:sp>
        <p:nvSpPr>
          <p:cNvPr id="358" name="Google Shape;358;p42"/>
          <p:cNvSpPr/>
          <p:nvPr/>
        </p:nvSpPr>
        <p:spPr>
          <a:xfrm flipH="1">
            <a:off x="434109" y="3248191"/>
            <a:ext cx="8266546" cy="4308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359" name="Google Shape;359;p42"/>
          <p:cNvSpPr/>
          <p:nvPr/>
        </p:nvSpPr>
        <p:spPr>
          <a:xfrm flipH="1">
            <a:off x="498763" y="2690934"/>
            <a:ext cx="8201891"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360" name="Google Shape;360;p42"/>
          <p:cNvSpPr/>
          <p:nvPr/>
        </p:nvSpPr>
        <p:spPr>
          <a:xfrm flipH="1">
            <a:off x="434108" y="3104404"/>
            <a:ext cx="8146473" cy="446276"/>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361" name="Google Shape;361;p42"/>
          <p:cNvSpPr/>
          <p:nvPr/>
        </p:nvSpPr>
        <p:spPr>
          <a:xfrm>
            <a:off x="586375" y="1361174"/>
            <a:ext cx="7929000" cy="37512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SmartMaps </a:t>
            </a:r>
            <a:r>
              <a:rPr lang="en-IN" sz="1800">
                <a:solidFill>
                  <a:schemeClr val="dk1"/>
                </a:solidFill>
                <a:latin typeface="Times New Roman"/>
                <a:ea typeface="Times New Roman"/>
                <a:cs typeface="Times New Roman"/>
                <a:sym typeface="Times New Roman"/>
              </a:rPr>
              <a:t>provides an intelligent approach to navigation by going beyond conventional distance- and time-based route planning. The system combines route information with real-time traffic, road closures, time of travel, nearby activity, lighting, and air-quality data. Its </a:t>
            </a:r>
            <a:r>
              <a:rPr b="1" lang="en-IN" sz="1800">
                <a:solidFill>
                  <a:schemeClr val="dk1"/>
                </a:solidFill>
                <a:latin typeface="Times New Roman"/>
                <a:ea typeface="Times New Roman"/>
                <a:cs typeface="Times New Roman"/>
                <a:sym typeface="Times New Roman"/>
              </a:rPr>
              <a:t>1–6 safety risk scoring</a:t>
            </a:r>
            <a:r>
              <a:rPr lang="en-IN" sz="1800">
                <a:solidFill>
                  <a:schemeClr val="dk1"/>
                </a:solidFill>
                <a:latin typeface="Times New Roman"/>
                <a:ea typeface="Times New Roman"/>
                <a:cs typeface="Times New Roman"/>
                <a:sym typeface="Times New Roman"/>
              </a:rPr>
              <a:t> allows alternative routes to be evaluated and ranked based on their calculated risk. The system also supports traffic-aware and pollution-aware route selection, giving users greater flexibility in choosing suitable routes. By combining mapping services, real-time data, and intelligent decision-making, SmartMaps provides a foundation for safer and environmentally conscious navigation. In the future, machine learning, historical safety datasets, GPS monitoring, and emergency services can further enhance the system. This can transform SmartMaps into a comprehensive </a:t>
            </a:r>
            <a:r>
              <a:rPr b="1" lang="en-IN" sz="1800">
                <a:solidFill>
                  <a:schemeClr val="dk1"/>
                </a:solidFill>
                <a:latin typeface="Times New Roman"/>
                <a:ea typeface="Times New Roman"/>
                <a:cs typeface="Times New Roman"/>
                <a:sym typeface="Times New Roman"/>
              </a:rPr>
              <a:t>smart-city safety and navigation platform</a:t>
            </a:r>
            <a:r>
              <a:rPr lang="en-IN" sz="1800">
                <a:solidFill>
                  <a:schemeClr val="dk1"/>
                </a:solidFill>
                <a:latin typeface="Times New Roman"/>
                <a:ea typeface="Times New Roman"/>
                <a:cs typeface="Times New Roman"/>
                <a:sym typeface="Times New Roman"/>
              </a:rPr>
              <a:t>.</a:t>
            </a:r>
            <a:endParaRPr sz="28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descr="logo.png" id="366" name="Google Shape;366;p43"/>
          <p:cNvPicPr preferRelativeResize="0"/>
          <p:nvPr/>
        </p:nvPicPr>
        <p:blipFill rotWithShape="1">
          <a:blip r:embed="rId3">
            <a:alphaModFix/>
          </a:blip>
          <a:srcRect b="0" l="0" r="0" t="0"/>
          <a:stretch/>
        </p:blipFill>
        <p:spPr>
          <a:xfrm>
            <a:off x="286327" y="320862"/>
            <a:ext cx="928695" cy="857256"/>
          </a:xfrm>
          <a:prstGeom prst="rect">
            <a:avLst/>
          </a:prstGeom>
          <a:noFill/>
          <a:ln>
            <a:noFill/>
          </a:ln>
        </p:spPr>
      </p:pic>
      <p:sp>
        <p:nvSpPr>
          <p:cNvPr id="367" name="Google Shape;367;p43"/>
          <p:cNvSpPr txBox="1"/>
          <p:nvPr/>
        </p:nvSpPr>
        <p:spPr>
          <a:xfrm>
            <a:off x="1224258" y="302391"/>
            <a:ext cx="7300328" cy="85725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lang="en-IN" sz="3600">
                <a:solidFill>
                  <a:schemeClr val="lt1"/>
                </a:solidFill>
                <a:latin typeface="Times New Roman"/>
                <a:ea typeface="Times New Roman"/>
                <a:cs typeface="Times New Roman"/>
                <a:sym typeface="Times New Roman"/>
              </a:rPr>
              <a:t>REFERENCES</a:t>
            </a:r>
            <a:endParaRPr sz="3600">
              <a:solidFill>
                <a:srgbClr val="000000"/>
              </a:solidFill>
              <a:latin typeface="Times New Roman"/>
              <a:ea typeface="Times New Roman"/>
              <a:cs typeface="Times New Roman"/>
              <a:sym typeface="Times New Roman"/>
            </a:endParaRPr>
          </a:p>
        </p:txBody>
      </p:sp>
      <p:sp>
        <p:nvSpPr>
          <p:cNvPr id="368" name="Google Shape;368;p43"/>
          <p:cNvSpPr txBox="1"/>
          <p:nvPr/>
        </p:nvSpPr>
        <p:spPr>
          <a:xfrm>
            <a:off x="0" y="6206836"/>
            <a:ext cx="9171708" cy="6788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 </a:t>
            </a:r>
            <a:r>
              <a:rPr b="1" lang="en-IN" sz="1800">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Times New Roman"/>
                <a:ea typeface="Times New Roman"/>
                <a:cs typeface="Times New Roman"/>
                <a:sym typeface="Times New Roman"/>
              </a:rPr>
              <a:t>          </a:t>
            </a:r>
            <a:r>
              <a:rPr b="1" i="0" lang="en-IN" sz="1800" u="none" cap="none" strike="noStrike">
                <a:solidFill>
                  <a:schemeClr val="lt1"/>
                </a:solidFill>
                <a:latin typeface="Calibri"/>
                <a:ea typeface="Calibri"/>
                <a:cs typeface="Calibri"/>
                <a:sym typeface="Calibri"/>
              </a:rPr>
              <a:t>       </a:t>
            </a:r>
            <a:r>
              <a:rPr b="1" i="0" lang="en-IN" sz="1800" u="none" cap="none" strike="noStrike">
                <a:solidFill>
                  <a:schemeClr val="lt1"/>
                </a:solidFill>
                <a:latin typeface="Times New Roman"/>
                <a:ea typeface="Times New Roman"/>
                <a:cs typeface="Times New Roman"/>
                <a:sym typeface="Times New Roman"/>
              </a:rPr>
              <a:t>Department of Computer Science &amp; Engineering                                  </a:t>
            </a:r>
            <a:r>
              <a:rPr b="1" lang="en-IN" sz="1800">
                <a:solidFill>
                  <a:schemeClr val="lt1"/>
                </a:solidFill>
                <a:latin typeface="Times New Roman"/>
                <a:ea typeface="Times New Roman"/>
                <a:cs typeface="Times New Roman"/>
                <a:sym typeface="Times New Roman"/>
              </a:rPr>
              <a:t>31</a:t>
            </a:r>
            <a:endParaRPr b="1" i="0" sz="1800" u="none" cap="none" strike="noStrike">
              <a:solidFill>
                <a:schemeClr val="lt1"/>
              </a:solidFill>
              <a:latin typeface="Times New Roman"/>
              <a:ea typeface="Times New Roman"/>
              <a:cs typeface="Times New Roman"/>
              <a:sym typeface="Times New Roman"/>
            </a:endParaRPr>
          </a:p>
        </p:txBody>
      </p:sp>
      <p:sp>
        <p:nvSpPr>
          <p:cNvPr id="369" name="Google Shape;369;p43"/>
          <p:cNvSpPr/>
          <p:nvPr/>
        </p:nvSpPr>
        <p:spPr>
          <a:xfrm flipH="1">
            <a:off x="498675" y="1159650"/>
            <a:ext cx="8025900" cy="504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100"/>
              <a:buNone/>
            </a:pPr>
            <a:r>
              <a:rPr b="1" lang="en-IN" sz="1800">
                <a:solidFill>
                  <a:schemeClr val="dk1"/>
                </a:solidFill>
                <a:latin typeface="Times New Roman"/>
                <a:ea typeface="Times New Roman"/>
                <a:cs typeface="Times New Roman"/>
                <a:sym typeface="Times New Roman"/>
              </a:rPr>
              <a:t>1. SafeRoutes: Charting a Secure Path – A Holistic Approach to Women’s Safety Through Advanced Clustering and GPS Integration</a:t>
            </a:r>
            <a:endParaRPr b="1"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IEEE Access (2024)</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u="sng">
                <a:solidFill>
                  <a:schemeClr val="hlink"/>
                </a:solidFill>
                <a:latin typeface="Times New Roman"/>
                <a:ea typeface="Times New Roman"/>
                <a:cs typeface="Times New Roman"/>
                <a:sym typeface="Times New Roman"/>
                <a:hlinkClick r:id="rId4"/>
              </a:rPr>
              <a:t>IEEE Xplore – SafeRoutes</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b="1" lang="en-IN" sz="1800">
                <a:solidFill>
                  <a:schemeClr val="dk1"/>
                </a:solidFill>
                <a:latin typeface="Times New Roman"/>
                <a:ea typeface="Times New Roman"/>
                <a:cs typeface="Times New Roman"/>
                <a:sym typeface="Times New Roman"/>
              </a:rPr>
              <a:t>2. SafeTrack: Empowering Women's Security with GPS Location Tracking and Messaging</a:t>
            </a:r>
            <a:endParaRPr b="1"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2023 Second International Conference on Augmented Intelligence and Sustainable Systems (ICAISS)</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u="sng">
                <a:solidFill>
                  <a:schemeClr val="hlink"/>
                </a:solidFill>
                <a:latin typeface="Times New Roman"/>
                <a:ea typeface="Times New Roman"/>
                <a:cs typeface="Times New Roman"/>
                <a:sym typeface="Times New Roman"/>
                <a:hlinkClick r:id="rId5"/>
              </a:rPr>
              <a:t>SafeTrack – Research Paper</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b="1" lang="en-IN" sz="1800">
                <a:solidFill>
                  <a:schemeClr val="dk1"/>
                </a:solidFill>
                <a:latin typeface="Times New Roman"/>
                <a:ea typeface="Times New Roman"/>
                <a:cs typeface="Times New Roman"/>
                <a:sym typeface="Times New Roman"/>
              </a:rPr>
              <a:t>3. Recommendation of Sustainable Route Optimization for Travel and Tourism</a:t>
            </a:r>
            <a:endParaRPr b="1"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HCI in Mobility, Transport, and Automotive Systems – MobiTAS 2023</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u="sng">
                <a:solidFill>
                  <a:schemeClr val="hlink"/>
                </a:solidFill>
                <a:latin typeface="Times New Roman"/>
                <a:ea typeface="Times New Roman"/>
                <a:cs typeface="Times New Roman"/>
                <a:sym typeface="Times New Roman"/>
                <a:hlinkClick r:id="rId6"/>
              </a:rPr>
              <a:t>Sustainable Route Optimization – Shibaura Institute of Technology</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b="1" lang="en-IN" sz="1800">
                <a:solidFill>
                  <a:schemeClr val="dk1"/>
                </a:solidFill>
                <a:latin typeface="Times New Roman"/>
                <a:ea typeface="Times New Roman"/>
                <a:cs typeface="Times New Roman"/>
                <a:sym typeface="Times New Roman"/>
              </a:rPr>
              <a:t>4. Integrated Women's Security System With Safe Route Navigation and Instant Law Enforcement Reporting</a:t>
            </a:r>
            <a:endParaRPr b="1"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a:solidFill>
                  <a:schemeClr val="dk1"/>
                </a:solidFill>
                <a:latin typeface="Times New Roman"/>
                <a:ea typeface="Times New Roman"/>
                <a:cs typeface="Times New Roman"/>
                <a:sym typeface="Times New Roman"/>
              </a:rPr>
              <a:t>Quantum Networks and Their Applications in AI (2024)</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IN" sz="1800" u="sng">
                <a:solidFill>
                  <a:schemeClr val="hlink"/>
                </a:solidFill>
                <a:latin typeface="Times New Roman"/>
                <a:ea typeface="Times New Roman"/>
                <a:cs typeface="Times New Roman"/>
                <a:sym typeface="Times New Roman"/>
                <a:hlinkClick r:id="rId7"/>
              </a:rPr>
              <a:t>Integrated Women's Security System – IGI Global</a:t>
            </a:r>
            <a:endParaRPr b="1" sz="25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4"/>
          <p:cNvSpPr/>
          <p:nvPr/>
        </p:nvSpPr>
        <p:spPr>
          <a:xfrm flipH="1">
            <a:off x="434109" y="3248191"/>
            <a:ext cx="8266546" cy="4308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375" name="Google Shape;375;p44"/>
          <p:cNvSpPr/>
          <p:nvPr/>
        </p:nvSpPr>
        <p:spPr>
          <a:xfrm flipH="1">
            <a:off x="498763" y="2375464"/>
            <a:ext cx="8201891" cy="107721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3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1" i="0" lang="en-IN" sz="3200" u="none" cap="none" strike="noStrike">
                <a:solidFill>
                  <a:schemeClr val="dk1"/>
                </a:solidFill>
                <a:latin typeface="Times New Roman"/>
                <a:ea typeface="Times New Roman"/>
                <a:cs typeface="Times New Roman"/>
                <a:sym typeface="Times New Roman"/>
              </a:rPr>
              <a:t>THANK YOU</a:t>
            </a:r>
            <a:endParaRPr/>
          </a:p>
        </p:txBody>
      </p:sp>
      <p:sp>
        <p:nvSpPr>
          <p:cNvPr id="376" name="Google Shape;376;p44"/>
          <p:cNvSpPr/>
          <p:nvPr/>
        </p:nvSpPr>
        <p:spPr>
          <a:xfrm flipH="1">
            <a:off x="1782616" y="3104404"/>
            <a:ext cx="5837383" cy="408551"/>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377" name="Google Shape;377;p44"/>
          <p:cNvSpPr/>
          <p:nvPr/>
        </p:nvSpPr>
        <p:spPr>
          <a:xfrm>
            <a:off x="498763" y="3512955"/>
            <a:ext cx="8025822" cy="430887"/>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